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4"/>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4" Type="http://schemas.openxmlformats.org/officeDocument/2006/relationships/slide" Target="slides/slide13.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هيومين</c:v>
                </c:pt>
              </c:strCache>
            </c:strRef>
          </c:tx>
          <c:spPr>
            <a:solidFill>
              <a:srgbClr val="0F274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السنة 2</c:v>
                  </c:pt>
                  <c:pt idx="1">
                    <c:v>السنة 3</c:v>
                  </c:pt>
                  <c:pt idx="2">
                    <c:v>السنة 4</c:v>
                  </c:pt>
                  <c:pt idx="3">
                    <c:v>السنة 5</c:v>
                  </c:pt>
                </c:lvl>
              </c:multiLvlStrCache>
            </c:multiLvlStrRef>
          </c:cat>
          <c:val>
            <c:numRef>
              <c:f>Sheet1!$B$2:$B$5</c:f>
              <c:numCache>
                <c:formatCode>General</c:formatCode>
                <c:ptCount val="4"/>
                <c:pt idx="0">
                  <c:v>0.6</c:v>
                </c:pt>
                <c:pt idx="1">
                  <c:v>2.4</c:v>
                </c:pt>
                <c:pt idx="2">
                  <c:v>6</c:v>
                </c:pt>
                <c:pt idx="3">
                  <c:v>11</c:v>
                </c:pt>
              </c:numCache>
            </c:numRef>
          </c:val>
        </c:ser>
        <c:ser>
          <c:idx val="1"/>
          <c:order val="1"/>
          <c:tx>
            <c:strRef>
              <c:f>Sheet1!$C$1</c:f>
              <c:strCache>
                <c:ptCount val="1"/>
                <c:pt idx="0">
                  <c:v>حكومي/شركات سعودية</c:v>
                </c:pt>
              </c:strCache>
            </c:strRef>
          </c:tx>
          <c:spPr>
            <a:solidFill>
              <a:srgbClr val="1F8A9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السنة 2</c:v>
                  </c:pt>
                  <c:pt idx="1">
                    <c:v>السنة 3</c:v>
                  </c:pt>
                  <c:pt idx="2">
                    <c:v>السنة 4</c:v>
                  </c:pt>
                  <c:pt idx="3">
                    <c:v>السنة 5</c:v>
                  </c:pt>
                </c:lvl>
              </c:multiLvlStrCache>
            </c:multiLvlStrRef>
          </c:cat>
          <c:val>
            <c:numRef>
              <c:f>Sheet1!$C$2:$C$5</c:f>
              <c:numCache>
                <c:formatCode>General</c:formatCode>
                <c:ptCount val="4"/>
                <c:pt idx="0">
                  <c:v>0.9</c:v>
                </c:pt>
                <c:pt idx="1">
                  <c:v>2.8</c:v>
                </c:pt>
                <c:pt idx="2">
                  <c:v>5.4</c:v>
                </c:pt>
                <c:pt idx="3">
                  <c:v>8.2</c:v>
                </c:pt>
              </c:numCache>
            </c:numRef>
          </c:val>
        </c:ser>
        <c:ser>
          <c:idx val="2"/>
          <c:order val="2"/>
          <c:tx>
            <c:strRef>
              <c:f>Sheet1!$D$1</c:f>
              <c:strCache>
                <c:ptCount val="1"/>
                <c:pt idx="0">
                  <c:v>شركات خليجية</c:v>
                </c:pt>
              </c:strCache>
            </c:strRef>
          </c:tx>
          <c:spPr>
            <a:solidFill>
              <a:srgbClr val="C49A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السنة 2</c:v>
                  </c:pt>
                  <c:pt idx="1">
                    <c:v>السنة 3</c:v>
                  </c:pt>
                  <c:pt idx="2">
                    <c:v>السنة 4</c:v>
                  </c:pt>
                  <c:pt idx="3">
                    <c:v>السنة 5</c:v>
                  </c:pt>
                </c:lvl>
              </c:multiLvlStrCache>
            </c:multiLvlStrRef>
          </c:cat>
          <c:val>
            <c:numRef>
              <c:f>Sheet1!$D$2:$D$5</c:f>
              <c:numCache>
                <c:formatCode>General</c:formatCode>
                <c:ptCount val="4"/>
                <c:pt idx="0">
                  <c:v>0.2</c:v>
                </c:pt>
                <c:pt idx="1">
                  <c:v>0.9</c:v>
                </c:pt>
                <c:pt idx="2">
                  <c:v>2.2</c:v>
                </c:pt>
                <c:pt idx="3">
                  <c:v>4</c:v>
                </c:pt>
              </c:numCache>
            </c:numRef>
          </c:val>
        </c:ser>
        <c:ser>
          <c:idx val="3"/>
          <c:order val="3"/>
          <c:tx>
            <c:strRef>
              <c:f>Sheet1!$E$1</c:f>
              <c:strCache>
                <c:ptCount val="1"/>
                <c:pt idx="0">
                  <c:v>سحابة (LCA-as-Service)</c:v>
                </c:pt>
              </c:strCache>
            </c:strRef>
          </c:tx>
          <c:spPr>
            <a:solidFill>
              <a:srgbClr val="31C9D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السنة 2</c:v>
                  </c:pt>
                  <c:pt idx="1">
                    <c:v>السنة 3</c:v>
                  </c:pt>
                  <c:pt idx="2">
                    <c:v>السنة 4</c:v>
                  </c:pt>
                  <c:pt idx="3">
                    <c:v>السنة 5</c:v>
                  </c:pt>
                </c:lvl>
              </c:multiLvlStrCache>
            </c:multiLvlStrRef>
          </c:cat>
          <c:val>
            <c:numRef>
              <c:f>Sheet1!$E$2:$E$5</c:f>
              <c:numCache>
                <c:formatCode>General</c:formatCode>
                <c:ptCount val="4"/>
                <c:pt idx="0">
                  <c:v>0</c:v>
                </c:pt>
                <c:pt idx="1">
                  <c:v>0.6</c:v>
                </c:pt>
                <c:pt idx="2">
                  <c:v>2.8</c:v>
                </c:pt>
                <c:pt idx="3">
                  <c:v>6.5</c:v>
                </c:pt>
              </c:numCache>
            </c:numRef>
          </c:val>
        </c:ser>
        <c:ser>
          <c:idx val="4"/>
          <c:order val="4"/>
          <c:tx>
            <c:strRef>
              <c:f>Sheet1!$F$1</c:f>
              <c:strCache>
                <c:ptCount val="1"/>
                <c:pt idx="0">
                  <c:v>ترخيص IP</c:v>
                </c:pt>
              </c:strCache>
            </c:strRef>
          </c:tx>
          <c:spPr>
            <a:solidFill>
              <a:srgbClr val="E8C66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السنة 2</c:v>
                  </c:pt>
                  <c:pt idx="1">
                    <c:v>السنة 3</c:v>
                  </c:pt>
                  <c:pt idx="2">
                    <c:v>السنة 4</c:v>
                  </c:pt>
                  <c:pt idx="3">
                    <c:v>السنة 5</c:v>
                  </c:pt>
                </c:lvl>
              </c:multiLvlStrCache>
            </c:multiLvlStrRef>
          </c:cat>
          <c:val>
            <c:numRef>
              <c:f>Sheet1!$F$2:$F$5</c:f>
              <c:numCache>
                <c:formatCode>General</c:formatCode>
                <c:ptCount val="4"/>
                <c:pt idx="0">
                  <c:v>0</c:v>
                </c:pt>
                <c:pt idx="1">
                  <c:v>0</c:v>
                </c:pt>
                <c:pt idx="2">
                  <c:v>5</c:v>
                </c:pt>
                <c:pt idx="3">
                  <c:v>12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Tajaw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M$</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latin typeface="Tajawal"/>
              <a:cs typeface="Tajaw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745"/>
        </a:solidFill>
      </p:bgPr>
    </p:bg>
    <p:spTree>
      <p:nvGrpSpPr>
        <p:cNvPr id="1" name=""/>
        <p:cNvGrpSpPr/>
        <p:nvPr/>
      </p:nvGrpSpPr>
      <p:grpSpPr>
        <a:xfrm>
          <a:off x="0" y="0"/>
          <a:ext cx="0" cy="0"/>
          <a:chOff x="0" y="0"/>
          <a:chExt cx="0" cy="0"/>
        </a:xfrm>
      </p:grpSpPr>
      <p:sp>
        <p:nvSpPr>
          <p:cNvPr id="2" name="Text 0"/>
          <p:cNvSpPr/>
          <p:nvPr/>
        </p:nvSpPr>
        <p:spPr>
          <a:xfrm>
            <a:off x="548640" y="548640"/>
            <a:ext cx="10972800" cy="365760"/>
          </a:xfrm>
          <a:prstGeom prst="rect">
            <a:avLst/>
          </a:prstGeom>
          <a:noFill/>
          <a:ln/>
        </p:spPr>
        <p:txBody>
          <a:bodyPr wrap="square" lIns="0" tIns="0" rIns="0" bIns="0" rtlCol="0" anchor="ctr"/>
          <a:lstStyle/>
          <a:p>
            <a:pPr algn="r" indent="0" marL="0">
              <a:buNone/>
            </a:pPr>
            <a:r>
              <a:rPr lang="en-US" sz="1100" b="1" spc="800" kern="0" dirty="0">
                <a:solidFill>
                  <a:srgbClr val="C49A2B"/>
                </a:solidFill>
                <a:latin typeface="Calibri" pitchFamily="34" charset="0"/>
                <a:ea typeface="Calibri" pitchFamily="34" charset="-122"/>
                <a:cs typeface="Calibri" pitchFamily="34" charset="-120"/>
              </a:rPr>
              <a:t>ARKANE AI</a:t>
            </a:r>
            <a:endParaRPr lang="en-US" sz="1100" dirty="0"/>
          </a:p>
        </p:txBody>
      </p:sp>
      <p:sp>
        <p:nvSpPr>
          <p:cNvPr id="3" name="Shape 1"/>
          <p:cNvSpPr/>
          <p:nvPr/>
        </p:nvSpPr>
        <p:spPr>
          <a:xfrm>
            <a:off x="502920" y="640080"/>
            <a:ext cx="109728" cy="109728"/>
          </a:xfrm>
          <a:prstGeom prst="ellipse">
            <a:avLst/>
          </a:prstGeom>
          <a:solidFill>
            <a:srgbClr val="C49A2B"/>
          </a:solidFill>
          <a:ln/>
        </p:spPr>
      </p:sp>
      <p:sp>
        <p:nvSpPr>
          <p:cNvPr id="4" name="Text 2"/>
          <p:cNvSpPr/>
          <p:nvPr/>
        </p:nvSpPr>
        <p:spPr>
          <a:xfrm>
            <a:off x="457200" y="2011680"/>
            <a:ext cx="11247120" cy="1005840"/>
          </a:xfrm>
          <a:prstGeom prst="rect">
            <a:avLst/>
          </a:prstGeom>
          <a:noFill/>
          <a:ln/>
        </p:spPr>
        <p:txBody>
          <a:bodyPr wrap="square" lIns="0" tIns="0" rIns="0" bIns="0" rtlCol="0" anchor="ctr"/>
          <a:lstStyle/>
          <a:p>
            <a:pPr rtl="1" algn="r" indent="0" marL="0">
              <a:buNone/>
            </a:pPr>
            <a:r>
              <a:rPr lang="en-US" sz="7200" b="1" dirty="0">
                <a:solidFill>
                  <a:srgbClr val="FFFFFF"/>
                </a:solidFill>
                <a:latin typeface="Tajawal" pitchFamily="34" charset="0"/>
                <a:ea typeface="Tajawal" pitchFamily="34" charset="-122"/>
                <a:cs typeface="Tajawal" pitchFamily="34" charset="-120"/>
              </a:rPr>
              <a:t>بنية السياق السائل</a:t>
            </a:r>
            <a:endParaRPr lang="en-US" sz="7200" dirty="0"/>
          </a:p>
        </p:txBody>
      </p:sp>
      <p:sp>
        <p:nvSpPr>
          <p:cNvPr id="5" name="Text 3"/>
          <p:cNvSpPr/>
          <p:nvPr/>
        </p:nvSpPr>
        <p:spPr>
          <a:xfrm>
            <a:off x="457200" y="3017520"/>
            <a:ext cx="11247120" cy="457200"/>
          </a:xfrm>
          <a:prstGeom prst="rect">
            <a:avLst/>
          </a:prstGeom>
          <a:noFill/>
          <a:ln/>
        </p:spPr>
        <p:txBody>
          <a:bodyPr wrap="square" lIns="0" tIns="0" rIns="0" bIns="0" rtlCol="0" anchor="ctr"/>
          <a:lstStyle/>
          <a:p>
            <a:pPr algn="r" indent="0" marL="0">
              <a:buNone/>
            </a:pPr>
            <a:r>
              <a:rPr lang="en-US" sz="2200" b="1" spc="400" kern="0" dirty="0">
                <a:solidFill>
                  <a:srgbClr val="E8C66E"/>
                </a:solidFill>
                <a:latin typeface="Calibri" pitchFamily="34" charset="0"/>
                <a:ea typeface="Calibri" pitchFamily="34" charset="-122"/>
                <a:cs typeface="Calibri" pitchFamily="34" charset="-120"/>
              </a:rPr>
              <a:t>LIQUID  CONTEXT  ARCHITECTURE</a:t>
            </a:r>
            <a:endParaRPr lang="en-US" sz="2200" dirty="0"/>
          </a:p>
        </p:txBody>
      </p:sp>
      <p:sp>
        <p:nvSpPr>
          <p:cNvPr id="6" name="Text 4"/>
          <p:cNvSpPr/>
          <p:nvPr/>
        </p:nvSpPr>
        <p:spPr>
          <a:xfrm>
            <a:off x="457200" y="3657600"/>
            <a:ext cx="11247120" cy="457200"/>
          </a:xfrm>
          <a:prstGeom prst="rect">
            <a:avLst/>
          </a:prstGeom>
          <a:noFill/>
          <a:ln/>
        </p:spPr>
        <p:txBody>
          <a:bodyPr wrap="square" lIns="0" tIns="0" rIns="0" bIns="0" rtlCol="0" anchor="ctr"/>
          <a:lstStyle/>
          <a:p>
            <a:pPr rtl="1" algn="r" indent="0" marL="0">
              <a:buNone/>
            </a:pPr>
            <a:r>
              <a:rPr lang="en-US" sz="2000" dirty="0">
                <a:solidFill>
                  <a:srgbClr val="31C9DA"/>
                </a:solidFill>
                <a:latin typeface="Tajawal" pitchFamily="34" charset="0"/>
                <a:ea typeface="Tajawal" pitchFamily="34" charset="-122"/>
                <a:cs typeface="Tajawal" pitchFamily="34" charset="-120"/>
              </a:rPr>
              <a:t>ذاكرة عربية أصلية للذكاء الاصطناعي السيادي</a:t>
            </a:r>
            <a:endParaRPr lang="en-US" sz="2000" dirty="0"/>
          </a:p>
        </p:txBody>
      </p:sp>
      <p:sp>
        <p:nvSpPr>
          <p:cNvPr id="7" name="Shape 5"/>
          <p:cNvSpPr/>
          <p:nvPr/>
        </p:nvSpPr>
        <p:spPr>
          <a:xfrm>
            <a:off x="457200" y="4937760"/>
            <a:ext cx="1097280" cy="36576"/>
          </a:xfrm>
          <a:prstGeom prst="rect">
            <a:avLst/>
          </a:prstGeom>
          <a:solidFill>
            <a:srgbClr val="C49A2B"/>
          </a:solidFill>
          <a:ln/>
        </p:spPr>
      </p:sp>
      <p:sp>
        <p:nvSpPr>
          <p:cNvPr id="8" name="Text 6"/>
          <p:cNvSpPr/>
          <p:nvPr/>
        </p:nvSpPr>
        <p:spPr>
          <a:xfrm>
            <a:off x="457200" y="5120640"/>
            <a:ext cx="11247120" cy="365760"/>
          </a:xfrm>
          <a:prstGeom prst="rect">
            <a:avLst/>
          </a:prstGeom>
          <a:noFill/>
          <a:ln/>
        </p:spPr>
        <p:txBody>
          <a:bodyPr wrap="square" lIns="0" tIns="0" rIns="0" bIns="0" rtlCol="0" anchor="ctr"/>
          <a:lstStyle/>
          <a:p>
            <a:pPr rtl="1" algn="r" indent="0" marL="0">
              <a:buNone/>
            </a:pPr>
            <a:r>
              <a:rPr lang="en-US" sz="1400" dirty="0">
                <a:solidFill>
                  <a:srgbClr val="FFFFFF"/>
                </a:solidFill>
                <a:latin typeface="Tajawal" pitchFamily="34" charset="0"/>
                <a:ea typeface="Tajawal" pitchFamily="34" charset="-122"/>
                <a:cs typeface="Tajawal" pitchFamily="34" charset="-120"/>
              </a:rPr>
              <a:t>ARKANE AI</a:t>
            </a:r>
            <a:endParaRPr lang="en-US" sz="1400" dirty="0"/>
          </a:p>
        </p:txBody>
      </p:sp>
      <p:sp>
        <p:nvSpPr>
          <p:cNvPr id="9" name="Text 7"/>
          <p:cNvSpPr/>
          <p:nvPr/>
        </p:nvSpPr>
        <p:spPr>
          <a:xfrm>
            <a:off x="457200" y="5486400"/>
            <a:ext cx="11247120" cy="365760"/>
          </a:xfrm>
          <a:prstGeom prst="rect">
            <a:avLst/>
          </a:prstGeom>
          <a:noFill/>
          <a:ln/>
        </p:spPr>
        <p:txBody>
          <a:bodyPr wrap="square" lIns="0" tIns="0" rIns="0" bIns="0" rtlCol="0" anchor="ctr"/>
          <a:lstStyle/>
          <a:p>
            <a:pPr rtl="1" algn="r" indent="0" marL="0">
              <a:buNone/>
            </a:pPr>
            <a:r>
              <a:rPr lang="en-US" sz="1200" dirty="0">
                <a:solidFill>
                  <a:srgbClr val="8A96A7"/>
                </a:solidFill>
                <a:latin typeface="Tajawal" pitchFamily="34" charset="0"/>
                <a:ea typeface="Tajawal" pitchFamily="34" charset="-122"/>
                <a:cs typeface="Tajawal" pitchFamily="34" charset="-120"/>
              </a:rPr>
              <a:t>أبها  ·  المملكة العربية السعودية  ·  2026</a:t>
            </a:r>
            <a:endParaRPr lang="en-US" sz="1200" dirty="0"/>
          </a:p>
        </p:txBody>
      </p:sp>
      <p:sp>
        <p:nvSpPr>
          <p:cNvPr id="10" name="Text 8"/>
          <p:cNvSpPr/>
          <p:nvPr/>
        </p:nvSpPr>
        <p:spPr>
          <a:xfrm>
            <a:off x="457200" y="6217920"/>
            <a:ext cx="11247120" cy="274320"/>
          </a:xfrm>
          <a:prstGeom prst="rect">
            <a:avLst/>
          </a:prstGeom>
          <a:noFill/>
          <a:ln/>
        </p:spPr>
        <p:txBody>
          <a:bodyPr wrap="square" lIns="0" tIns="0" rIns="0" bIns="0" rtlCol="0" anchor="ctr"/>
          <a:lstStyle/>
          <a:p>
            <a:pPr rtl="1" algn="r" indent="0" marL="0">
              <a:buNone/>
            </a:pPr>
            <a:r>
              <a:rPr lang="en-US" sz="1000" i="1" dirty="0">
                <a:solidFill>
                  <a:srgbClr val="8A96A7"/>
                </a:solidFill>
                <a:latin typeface="Tajawal" pitchFamily="34" charset="0"/>
                <a:ea typeface="Tajawal" pitchFamily="34" charset="-122"/>
                <a:cs typeface="Tajawal" pitchFamily="34" charset="-120"/>
              </a:rPr>
              <a:t>إفصاح تقني ما قبل البراءة  ·  للمراجعة من قِبَل الأطراف المؤهَّلة فقط</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11247120" y="365760"/>
            <a:ext cx="640080" cy="365760"/>
          </a:xfrm>
          <a:prstGeom prst="rect">
            <a:avLst/>
          </a:prstGeom>
          <a:noFill/>
          <a:ln/>
        </p:spPr>
        <p:txBody>
          <a:bodyPr wrap="square" lIns="0" tIns="0" rIns="0" bIns="0" rtlCol="0" anchor="ctr"/>
          <a:lstStyle/>
          <a:p>
            <a:pPr algn="r" indent="0" marL="0">
              <a:buNone/>
            </a:pPr>
            <a:r>
              <a:rPr lang="en-US" sz="1400" b="1" dirty="0">
                <a:solidFill>
                  <a:srgbClr val="C49A2B"/>
                </a:solidFill>
                <a:latin typeface="Calibri" pitchFamily="34" charset="0"/>
                <a:ea typeface="Calibri" pitchFamily="34" charset="-122"/>
                <a:cs typeface="Calibri" pitchFamily="34" charset="-120"/>
              </a:rPr>
              <a:t>01</a:t>
            </a:r>
            <a:endParaRPr lang="en-US" sz="1400" dirty="0"/>
          </a:p>
        </p:txBody>
      </p:sp>
      <p:sp>
        <p:nvSpPr>
          <p:cNvPr id="3" name="Text 1"/>
          <p:cNvSpPr/>
          <p:nvPr/>
        </p:nvSpPr>
        <p:spPr>
          <a:xfrm>
            <a:off x="457200" y="457200"/>
            <a:ext cx="11247120" cy="457200"/>
          </a:xfrm>
          <a:prstGeom prst="rect">
            <a:avLst/>
          </a:prstGeom>
          <a:noFill/>
          <a:ln/>
        </p:spPr>
        <p:txBody>
          <a:bodyPr wrap="square" lIns="0" tIns="0" rIns="0" bIns="0" rtlCol="0" anchor="ctr"/>
          <a:lstStyle/>
          <a:p>
            <a:pPr rtl="1" algn="r" indent="0" marL="0">
              <a:buNone/>
            </a:pPr>
            <a:r>
              <a:rPr lang="en-US" sz="1300" spc="400" kern="0" dirty="0">
                <a:solidFill>
                  <a:srgbClr val="C49A2B"/>
                </a:solidFill>
                <a:latin typeface="Tajawal" pitchFamily="34" charset="0"/>
                <a:ea typeface="Tajawal" pitchFamily="34" charset="-122"/>
                <a:cs typeface="Tajawal" pitchFamily="34" charset="-120"/>
              </a:rPr>
              <a:t>السؤال</a:t>
            </a:r>
            <a:endParaRPr lang="en-US" sz="1300" dirty="0"/>
          </a:p>
        </p:txBody>
      </p:sp>
      <p:sp>
        <p:nvSpPr>
          <p:cNvPr id="4" name="Text 2"/>
          <p:cNvSpPr/>
          <p:nvPr/>
        </p:nvSpPr>
        <p:spPr>
          <a:xfrm>
            <a:off x="457200" y="1645920"/>
            <a:ext cx="11247120" cy="3200400"/>
          </a:xfrm>
          <a:prstGeom prst="rect">
            <a:avLst/>
          </a:prstGeom>
          <a:noFill/>
          <a:ln/>
        </p:spPr>
        <p:txBody>
          <a:bodyPr wrap="square" lIns="0" tIns="0" rIns="0" bIns="0" rtlCol="0" anchor="ctr"/>
          <a:lstStyle/>
          <a:p>
            <a:pPr algn="r" indent="0" marL="0">
              <a:lnSpc>
                <a:spcPts val="6000"/>
              </a:lnSpc>
              <a:buNone/>
            </a:pPr>
            <a:r>
              <a:rPr lang="en-US" sz="4600" b="1" dirty="0">
                <a:solidFill>
                  <a:srgbClr val="1A2330"/>
                </a:solidFill>
                <a:latin typeface="Tajawal" pitchFamily="34" charset="0"/>
                <a:ea typeface="Tajawal" pitchFamily="34" charset="-122"/>
                <a:cs typeface="Tajawal" pitchFamily="34" charset="-120"/>
              </a:rPr>
              <a:t>لماذا يُكلّف كل طلب بالعربية
</a:t>
            </a:r>
            <a:pPr algn="r" indent="0" marL="0">
              <a:lnSpc>
                <a:spcPts val="6000"/>
              </a:lnSpc>
              <a:buNone/>
            </a:pPr>
            <a:r>
              <a:rPr lang="en-US" sz="4600" b="1" dirty="0">
                <a:solidFill>
                  <a:srgbClr val="1F8A98"/>
                </a:solidFill>
                <a:latin typeface="Tajawal" pitchFamily="34" charset="0"/>
                <a:ea typeface="Tajawal" pitchFamily="34" charset="-122"/>
                <a:cs typeface="Tajawal" pitchFamily="34" charset="-120"/>
              </a:rPr>
              <a:t>ضِعفين إلى أربعة أضعاف
</a:t>
            </a:r>
            <a:pPr algn="r" indent="0" marL="0">
              <a:lnSpc>
                <a:spcPts val="6000"/>
              </a:lnSpc>
              <a:buNone/>
            </a:pPr>
            <a:r>
              <a:rPr lang="en-US" sz="4600" b="1" dirty="0">
                <a:solidFill>
                  <a:srgbClr val="1A2330"/>
                </a:solidFill>
                <a:latin typeface="Tajawal" pitchFamily="34" charset="0"/>
                <a:ea typeface="Tajawal" pitchFamily="34" charset="-122"/>
                <a:cs typeface="Tajawal" pitchFamily="34" charset="-120"/>
              </a:rPr>
              <a:t>ما يُكلّفه نظيره بالإنجليزية؟</a:t>
            </a:r>
            <a:endParaRPr lang="en-US" sz="4600" dirty="0"/>
          </a:p>
        </p:txBody>
      </p:sp>
      <p:sp>
        <p:nvSpPr>
          <p:cNvPr id="5" name="Text 3"/>
          <p:cNvSpPr/>
          <p:nvPr/>
        </p:nvSpPr>
        <p:spPr>
          <a:xfrm>
            <a:off x="457200" y="4846320"/>
            <a:ext cx="11247120" cy="548640"/>
          </a:xfrm>
          <a:prstGeom prst="rect">
            <a:avLst/>
          </a:prstGeom>
          <a:noFill/>
          <a:ln/>
        </p:spPr>
        <p:txBody>
          <a:bodyPr wrap="square" lIns="0" tIns="0" rIns="0" bIns="0" rtlCol="0" anchor="ctr"/>
          <a:lstStyle/>
          <a:p>
            <a:pPr rtl="1" algn="r" indent="0" marL="0">
              <a:buNone/>
            </a:pPr>
            <a:r>
              <a:rPr lang="en-US" sz="2200" i="1" dirty="0">
                <a:solidFill>
                  <a:srgbClr val="3D4A5C"/>
                </a:solidFill>
                <a:latin typeface="Tajawal" pitchFamily="34" charset="0"/>
                <a:ea typeface="Tajawal" pitchFamily="34" charset="-122"/>
                <a:cs typeface="Tajawal" pitchFamily="34" charset="-120"/>
              </a:rPr>
              <a:t>وما الفرصة البنيوية التي يفتحها ذلك؟</a:t>
            </a:r>
            <a:endParaRPr lang="en-US" sz="2200" dirty="0"/>
          </a:p>
        </p:txBody>
      </p:sp>
      <p:sp>
        <p:nvSpPr>
          <p:cNvPr id="6" name="Text 4"/>
          <p:cNvSpPr/>
          <p:nvPr/>
        </p:nvSpPr>
        <p:spPr>
          <a:xfrm>
            <a:off x="365760" y="6492240"/>
            <a:ext cx="3657600" cy="274320"/>
          </a:xfrm>
          <a:prstGeom prst="rect">
            <a:avLst/>
          </a:prstGeom>
          <a:noFill/>
          <a:ln/>
        </p:spPr>
        <p:txBody>
          <a:bodyPr wrap="square" lIns="0" tIns="0" rIns="0" bIns="0" rtlCol="0" anchor="ctr"/>
          <a:lstStyle/>
          <a:p>
            <a:pPr rtl="1" algn="l" indent="0" marL="0">
              <a:buNone/>
            </a:pPr>
            <a:r>
              <a:rPr lang="en-US" sz="800" dirty="0">
                <a:solidFill>
                  <a:srgbClr val="8A96A7"/>
                </a:solidFill>
                <a:latin typeface="Tajawal" pitchFamily="34" charset="0"/>
                <a:ea typeface="Tajawal" pitchFamily="34" charset="-122"/>
                <a:cs typeface="Tajawal" pitchFamily="34" charset="-120"/>
              </a:rPr>
              <a:t>ARKANE AI · سرّي</a:t>
            </a:r>
            <a:endParaRPr lang="en-US" sz="800" dirty="0"/>
          </a:p>
        </p:txBody>
      </p:sp>
      <p:sp>
        <p:nvSpPr>
          <p:cNvPr id="7" name="Text 5"/>
          <p:cNvSpPr/>
          <p:nvPr/>
        </p:nvSpPr>
        <p:spPr>
          <a:xfrm>
            <a:off x="11430000" y="6492240"/>
            <a:ext cx="548640" cy="274320"/>
          </a:xfrm>
          <a:prstGeom prst="rect">
            <a:avLst/>
          </a:prstGeom>
          <a:noFill/>
          <a:ln/>
        </p:spPr>
        <p:txBody>
          <a:bodyPr wrap="square" lIns="0" tIns="0" rIns="0" bIns="0" rtlCol="0" anchor="ctr"/>
          <a:lstStyle/>
          <a:p>
            <a:pPr algn="r" indent="0" marL="0">
              <a:buNone/>
            </a:pPr>
            <a:r>
              <a:rPr lang="en-US" sz="800" dirty="0">
                <a:solidFill>
                  <a:srgbClr val="8A96A7"/>
                </a:solidFill>
                <a:latin typeface="Calibri" pitchFamily="34" charset="0"/>
                <a:ea typeface="Calibri" pitchFamily="34" charset="-122"/>
                <a:cs typeface="Calibri" pitchFamily="34" charset="-120"/>
              </a:rPr>
              <a:t>2 / 18</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47120" y="365760"/>
            <a:ext cx="640080" cy="365760"/>
          </a:xfrm>
          <a:prstGeom prst="rect">
            <a:avLst/>
          </a:prstGeom>
          <a:noFill/>
          <a:ln/>
        </p:spPr>
        <p:txBody>
          <a:bodyPr wrap="square" lIns="0" tIns="0" rIns="0" bIns="0" rtlCol="0" anchor="ctr"/>
          <a:lstStyle/>
          <a:p>
            <a:pPr algn="r" indent="0" marL="0">
              <a:buNone/>
            </a:pPr>
            <a:r>
              <a:rPr lang="en-US" sz="1400" b="1" dirty="0">
                <a:solidFill>
                  <a:srgbClr val="C49A2B"/>
                </a:solidFill>
                <a:latin typeface="Calibri" pitchFamily="34" charset="0"/>
                <a:ea typeface="Calibri" pitchFamily="34" charset="-122"/>
                <a:cs typeface="Calibri" pitchFamily="34" charset="-120"/>
              </a:rPr>
              <a:t>02</a:t>
            </a:r>
            <a:endParaRPr lang="en-US" sz="1400" dirty="0"/>
          </a:p>
        </p:txBody>
      </p:sp>
      <p:sp>
        <p:nvSpPr>
          <p:cNvPr id="3" name="Text 1"/>
          <p:cNvSpPr/>
          <p:nvPr/>
        </p:nvSpPr>
        <p:spPr>
          <a:xfrm>
            <a:off x="457200" y="685800"/>
            <a:ext cx="11247120" cy="731520"/>
          </a:xfrm>
          <a:prstGeom prst="rect">
            <a:avLst/>
          </a:prstGeom>
          <a:noFill/>
          <a:ln/>
        </p:spPr>
        <p:txBody>
          <a:bodyPr wrap="square" lIns="0" tIns="0" rIns="0" bIns="0" rtlCol="0" anchor="ctr"/>
          <a:lstStyle/>
          <a:p>
            <a:pPr rtl="1" algn="r" indent="0" marL="0">
              <a:buNone/>
            </a:pPr>
            <a:r>
              <a:rPr lang="en-US" sz="3600" b="1" dirty="0">
                <a:solidFill>
                  <a:srgbClr val="0F2745"/>
                </a:solidFill>
                <a:latin typeface="Tajawal" pitchFamily="34" charset="0"/>
                <a:ea typeface="Tajawal" pitchFamily="34" charset="-122"/>
                <a:cs typeface="Tajawal" pitchFamily="34" charset="-120"/>
              </a:rPr>
              <a:t>الضريبة الخفيّة على العربية في الذكاء الاصطناعي</a:t>
            </a:r>
            <a:endParaRPr lang="en-US" sz="3600" dirty="0"/>
          </a:p>
        </p:txBody>
      </p:sp>
      <p:sp>
        <p:nvSpPr>
          <p:cNvPr id="4" name="Shape 2"/>
          <p:cNvSpPr/>
          <p:nvPr/>
        </p:nvSpPr>
        <p:spPr>
          <a:xfrm>
            <a:off x="10789920" y="1417320"/>
            <a:ext cx="914400" cy="45720"/>
          </a:xfrm>
          <a:prstGeom prst="rect">
            <a:avLst/>
          </a:prstGeom>
          <a:solidFill>
            <a:srgbClr val="C49A2B"/>
          </a:solidFill>
          <a:ln/>
        </p:spPr>
      </p:sp>
      <p:sp>
        <p:nvSpPr>
          <p:cNvPr id="5" name="Text 3"/>
          <p:cNvSpPr/>
          <p:nvPr/>
        </p:nvSpPr>
        <p:spPr>
          <a:xfrm>
            <a:off x="7635240" y="2194560"/>
            <a:ext cx="3566160" cy="1097280"/>
          </a:xfrm>
          <a:prstGeom prst="rect">
            <a:avLst/>
          </a:prstGeom>
          <a:noFill/>
          <a:ln/>
        </p:spPr>
        <p:txBody>
          <a:bodyPr wrap="square" lIns="0" tIns="0" rIns="0" bIns="0" rtlCol="0" anchor="ctr"/>
          <a:lstStyle/>
          <a:p>
            <a:pPr algn="r" indent="0" marL="0">
              <a:buNone/>
            </a:pPr>
            <a:r>
              <a:rPr lang="en-US" sz="6400" b="1" dirty="0">
                <a:solidFill>
                  <a:srgbClr val="C49A2B"/>
                </a:solidFill>
                <a:latin typeface="Calibri" pitchFamily="34" charset="0"/>
                <a:ea typeface="Calibri" pitchFamily="34" charset="-122"/>
                <a:cs typeface="Calibri" pitchFamily="34" charset="-120"/>
              </a:rPr>
              <a:t>2.4×</a:t>
            </a:r>
            <a:endParaRPr lang="en-US" sz="6400" dirty="0"/>
          </a:p>
        </p:txBody>
      </p:sp>
      <p:sp>
        <p:nvSpPr>
          <p:cNvPr id="6" name="Text 4"/>
          <p:cNvSpPr/>
          <p:nvPr/>
        </p:nvSpPr>
        <p:spPr>
          <a:xfrm>
            <a:off x="7635240" y="3383280"/>
            <a:ext cx="3566160" cy="457200"/>
          </a:xfrm>
          <a:prstGeom prst="rect">
            <a:avLst/>
          </a:prstGeom>
          <a:noFill/>
          <a:ln/>
        </p:spPr>
        <p:txBody>
          <a:bodyPr wrap="square" lIns="0" tIns="0" rIns="0" bIns="0" rtlCol="0" anchor="ctr"/>
          <a:lstStyle/>
          <a:p>
            <a:pPr rtl="1" algn="r" indent="0" marL="0">
              <a:buNone/>
            </a:pPr>
            <a:r>
              <a:rPr lang="en-US" sz="1600" b="1" dirty="0">
                <a:solidFill>
                  <a:srgbClr val="1A2330"/>
                </a:solidFill>
                <a:latin typeface="Tajawal" pitchFamily="34" charset="0"/>
                <a:ea typeface="Tajawal" pitchFamily="34" charset="-122"/>
                <a:cs typeface="Tajawal" pitchFamily="34" charset="-120"/>
              </a:rPr>
              <a:t>خصوبة التقطيع</a:t>
            </a:r>
            <a:endParaRPr lang="en-US" sz="1600" dirty="0"/>
          </a:p>
        </p:txBody>
      </p:sp>
      <p:sp>
        <p:nvSpPr>
          <p:cNvPr id="7" name="Text 5"/>
          <p:cNvSpPr/>
          <p:nvPr/>
        </p:nvSpPr>
        <p:spPr>
          <a:xfrm>
            <a:off x="7635240" y="3931920"/>
            <a:ext cx="3566160" cy="1828800"/>
          </a:xfrm>
          <a:prstGeom prst="rect">
            <a:avLst/>
          </a:prstGeom>
          <a:noFill/>
          <a:ln/>
        </p:spPr>
        <p:txBody>
          <a:bodyPr wrap="square" lIns="0" tIns="0" rIns="0" bIns="0" rtlCol="0" anchor="ctr"/>
          <a:lstStyle/>
          <a:p>
            <a:pPr rtl="1" algn="r" indent="0" marL="0">
              <a:lnSpc>
                <a:spcPts val="1800"/>
              </a:lnSpc>
              <a:buNone/>
            </a:pPr>
            <a:r>
              <a:rPr lang="en-US" sz="1100" dirty="0">
                <a:solidFill>
                  <a:srgbClr val="3D4A5C"/>
                </a:solidFill>
                <a:latin typeface="Tajawal" pitchFamily="34" charset="0"/>
                <a:ea typeface="Tajawal" pitchFamily="34" charset="-122"/>
                <a:cs typeface="Tajawal" pitchFamily="34" charset="-120"/>
              </a:rPr>
              <a:t>العربية تحتاج 2.4–5.1 قطعة لكل كلمة</a:t>
            </a:r>
            <a:endParaRPr lang="en-US" sz="1100" dirty="0"/>
          </a:p>
          <a:p>
            <a:pPr rtl="1" algn="r" indent="0" marL="0">
              <a:lnSpc>
                <a:spcPts val="1800"/>
              </a:lnSpc>
              <a:buNone/>
            </a:pPr>
            <a:r>
              <a:rPr lang="en-US" sz="1100" dirty="0">
                <a:solidFill>
                  <a:srgbClr val="3D4A5C"/>
                </a:solidFill>
                <a:latin typeface="Tajawal" pitchFamily="34" charset="0"/>
                <a:ea typeface="Tajawal" pitchFamily="34" charset="-122"/>
                <a:cs typeface="Tajawal" pitchFamily="34" charset="-120"/>
              </a:rPr>
              <a:t>مقابل 1.3 للإنجليزية</a:t>
            </a:r>
            <a:endParaRPr lang="en-US" sz="1100" dirty="0"/>
          </a:p>
          <a:p>
            <a:pPr rtl="1" algn="r" indent="0" marL="0">
              <a:lnSpc>
                <a:spcPts val="1800"/>
              </a:lnSpc>
              <a:buNone/>
            </a:pPr>
            <a:r>
              <a:rPr lang="en-US" sz="1100" dirty="0">
                <a:solidFill>
                  <a:srgbClr val="3D4A5C"/>
                </a:solidFill>
                <a:latin typeface="Tajawal" pitchFamily="34" charset="0"/>
                <a:ea typeface="Tajawal" pitchFamily="34" charset="-122"/>
                <a:cs typeface="Tajawal" pitchFamily="34" charset="-120"/>
              </a:rPr>
              <a:t>(Alakeel et al., 2026)</a:t>
            </a:r>
            <a:endParaRPr lang="en-US" sz="1100" dirty="0"/>
          </a:p>
        </p:txBody>
      </p:sp>
      <p:sp>
        <p:nvSpPr>
          <p:cNvPr id="8" name="Shape 6"/>
          <p:cNvSpPr/>
          <p:nvPr/>
        </p:nvSpPr>
        <p:spPr>
          <a:xfrm>
            <a:off x="7589520" y="2194560"/>
            <a:ext cx="18288" cy="2743200"/>
          </a:xfrm>
          <a:prstGeom prst="rect">
            <a:avLst/>
          </a:prstGeom>
          <a:solidFill>
            <a:srgbClr val="DEE3EA"/>
          </a:solidFill>
          <a:ln/>
        </p:spPr>
      </p:sp>
      <p:sp>
        <p:nvSpPr>
          <p:cNvPr id="9" name="Text 7"/>
          <p:cNvSpPr/>
          <p:nvPr/>
        </p:nvSpPr>
        <p:spPr>
          <a:xfrm>
            <a:off x="3977640" y="2194560"/>
            <a:ext cx="3566160" cy="1097280"/>
          </a:xfrm>
          <a:prstGeom prst="rect">
            <a:avLst/>
          </a:prstGeom>
          <a:noFill/>
          <a:ln/>
        </p:spPr>
        <p:txBody>
          <a:bodyPr wrap="square" lIns="0" tIns="0" rIns="0" bIns="0" rtlCol="0" anchor="ctr"/>
          <a:lstStyle/>
          <a:p>
            <a:pPr algn="r" indent="0" marL="0">
              <a:buNone/>
            </a:pPr>
            <a:r>
              <a:rPr lang="en-US" sz="6400" b="1" dirty="0">
                <a:solidFill>
                  <a:srgbClr val="1F8A98"/>
                </a:solidFill>
                <a:latin typeface="Calibri" pitchFamily="34" charset="0"/>
                <a:ea typeface="Calibri" pitchFamily="34" charset="-122"/>
                <a:cs typeface="Calibri" pitchFamily="34" charset="-120"/>
              </a:rPr>
              <a:t>$25B</a:t>
            </a:r>
            <a:endParaRPr lang="en-US" sz="6400" dirty="0"/>
          </a:p>
        </p:txBody>
      </p:sp>
      <p:sp>
        <p:nvSpPr>
          <p:cNvPr id="10" name="Text 8"/>
          <p:cNvSpPr/>
          <p:nvPr/>
        </p:nvSpPr>
        <p:spPr>
          <a:xfrm>
            <a:off x="3977640" y="3383280"/>
            <a:ext cx="3566160" cy="457200"/>
          </a:xfrm>
          <a:prstGeom prst="rect">
            <a:avLst/>
          </a:prstGeom>
          <a:noFill/>
          <a:ln/>
        </p:spPr>
        <p:txBody>
          <a:bodyPr wrap="square" lIns="0" tIns="0" rIns="0" bIns="0" rtlCol="0" anchor="ctr"/>
          <a:lstStyle/>
          <a:p>
            <a:pPr rtl="1" algn="r" indent="0" marL="0">
              <a:buNone/>
            </a:pPr>
            <a:r>
              <a:rPr lang="en-US" sz="1600" b="1" dirty="0">
                <a:solidFill>
                  <a:srgbClr val="1A2330"/>
                </a:solidFill>
                <a:latin typeface="Tajawal" pitchFamily="34" charset="0"/>
                <a:ea typeface="Tajawal" pitchFamily="34" charset="-122"/>
                <a:cs typeface="Tajawal" pitchFamily="34" charset="-120"/>
              </a:rPr>
              <a:t>هدر تراكمي</a:t>
            </a:r>
            <a:endParaRPr lang="en-US" sz="1600" dirty="0"/>
          </a:p>
        </p:txBody>
      </p:sp>
      <p:sp>
        <p:nvSpPr>
          <p:cNvPr id="11" name="Text 9"/>
          <p:cNvSpPr/>
          <p:nvPr/>
        </p:nvSpPr>
        <p:spPr>
          <a:xfrm>
            <a:off x="3977640" y="3931920"/>
            <a:ext cx="3566160" cy="1828800"/>
          </a:xfrm>
          <a:prstGeom prst="rect">
            <a:avLst/>
          </a:prstGeom>
          <a:noFill/>
          <a:ln/>
        </p:spPr>
        <p:txBody>
          <a:bodyPr wrap="square" lIns="0" tIns="0" rIns="0" bIns="0" rtlCol="0" anchor="ctr"/>
          <a:lstStyle/>
          <a:p>
            <a:pPr rtl="1" algn="r" indent="0" marL="0">
              <a:lnSpc>
                <a:spcPts val="1800"/>
              </a:lnSpc>
              <a:buNone/>
            </a:pPr>
            <a:r>
              <a:rPr lang="en-US" sz="1100" dirty="0">
                <a:solidFill>
                  <a:srgbClr val="3D4A5C"/>
                </a:solidFill>
                <a:latin typeface="Tajawal" pitchFamily="34" charset="0"/>
                <a:ea typeface="Tajawal" pitchFamily="34" charset="-122"/>
                <a:cs typeface="Tajawal" pitchFamily="34" charset="-120"/>
              </a:rPr>
              <a:t>حوسبة مهدورة على عدم كفاءة العربية</a:t>
            </a:r>
            <a:endParaRPr lang="en-US" sz="1100" dirty="0"/>
          </a:p>
          <a:p>
            <a:pPr rtl="1" algn="r" indent="0" marL="0">
              <a:lnSpc>
                <a:spcPts val="1800"/>
              </a:lnSpc>
              <a:buNone/>
            </a:pPr>
            <a:r>
              <a:rPr lang="en-US" sz="1100" dirty="0">
                <a:solidFill>
                  <a:srgbClr val="3D4A5C"/>
                </a:solidFill>
                <a:latin typeface="Tajawal" pitchFamily="34" charset="0"/>
                <a:ea typeface="Tajawal" pitchFamily="34" charset="-122"/>
                <a:cs typeface="Tajawal" pitchFamily="34" charset="-120"/>
              </a:rPr>
              <a:t>على مقياس النشر السيادي الإقليمي 3–6 GW حتى 2030</a:t>
            </a:r>
            <a:endParaRPr lang="en-US" sz="1100" dirty="0"/>
          </a:p>
          <a:p>
            <a:pPr rtl="1" algn="r" indent="0" marL="0">
              <a:lnSpc>
                <a:spcPts val="1800"/>
              </a:lnSpc>
              <a:buNone/>
            </a:pPr>
            <a:r>
              <a:rPr lang="en-US" sz="1100" dirty="0">
                <a:solidFill>
                  <a:srgbClr val="3D4A5C"/>
                </a:solidFill>
                <a:latin typeface="Tajawal" pitchFamily="34" charset="0"/>
                <a:ea typeface="Tajawal" pitchFamily="34" charset="-122"/>
                <a:cs typeface="Tajawal" pitchFamily="34" charset="-120"/>
              </a:rPr>
              <a:t>(تقدير متحفّظ)</a:t>
            </a:r>
            <a:endParaRPr lang="en-US" sz="1100" dirty="0"/>
          </a:p>
        </p:txBody>
      </p:sp>
      <p:sp>
        <p:nvSpPr>
          <p:cNvPr id="12" name="Shape 10"/>
          <p:cNvSpPr/>
          <p:nvPr/>
        </p:nvSpPr>
        <p:spPr>
          <a:xfrm>
            <a:off x="3931920" y="2194560"/>
            <a:ext cx="18288" cy="2743200"/>
          </a:xfrm>
          <a:prstGeom prst="rect">
            <a:avLst/>
          </a:prstGeom>
          <a:solidFill>
            <a:srgbClr val="DEE3EA"/>
          </a:solidFill>
          <a:ln/>
        </p:spPr>
      </p:sp>
      <p:sp>
        <p:nvSpPr>
          <p:cNvPr id="13" name="Text 11"/>
          <p:cNvSpPr/>
          <p:nvPr/>
        </p:nvSpPr>
        <p:spPr>
          <a:xfrm>
            <a:off x="320040" y="2194560"/>
            <a:ext cx="3566160" cy="1097280"/>
          </a:xfrm>
          <a:prstGeom prst="rect">
            <a:avLst/>
          </a:prstGeom>
          <a:noFill/>
          <a:ln/>
        </p:spPr>
        <p:txBody>
          <a:bodyPr wrap="square" lIns="0" tIns="0" rIns="0" bIns="0" rtlCol="0" anchor="ctr"/>
          <a:lstStyle/>
          <a:p>
            <a:pPr algn="r" indent="0" marL="0">
              <a:buNone/>
            </a:pPr>
            <a:r>
              <a:rPr lang="en-US" sz="6400" b="1" dirty="0">
                <a:solidFill>
                  <a:srgbClr val="1A2330"/>
                </a:solidFill>
                <a:latin typeface="Calibri" pitchFamily="34" charset="0"/>
                <a:ea typeface="Calibri" pitchFamily="34" charset="-122"/>
                <a:cs typeface="Calibri" pitchFamily="34" charset="-120"/>
              </a:rPr>
              <a:t>0</a:t>
            </a:r>
            <a:endParaRPr lang="en-US" sz="6400" dirty="0"/>
          </a:p>
        </p:txBody>
      </p:sp>
      <p:sp>
        <p:nvSpPr>
          <p:cNvPr id="14" name="Text 12"/>
          <p:cNvSpPr/>
          <p:nvPr/>
        </p:nvSpPr>
        <p:spPr>
          <a:xfrm>
            <a:off x="320040" y="3383280"/>
            <a:ext cx="3566160" cy="457200"/>
          </a:xfrm>
          <a:prstGeom prst="rect">
            <a:avLst/>
          </a:prstGeom>
          <a:noFill/>
          <a:ln/>
        </p:spPr>
        <p:txBody>
          <a:bodyPr wrap="square" lIns="0" tIns="0" rIns="0" bIns="0" rtlCol="0" anchor="ctr"/>
          <a:lstStyle/>
          <a:p>
            <a:pPr rtl="1" algn="r" indent="0" marL="0">
              <a:buNone/>
            </a:pPr>
            <a:r>
              <a:rPr lang="en-US" sz="1600" b="1" dirty="0">
                <a:solidFill>
                  <a:srgbClr val="1A2330"/>
                </a:solidFill>
                <a:latin typeface="Tajawal" pitchFamily="34" charset="0"/>
                <a:ea typeface="Tajawal" pitchFamily="34" charset="-122"/>
                <a:cs typeface="Tajawal" pitchFamily="34" charset="-120"/>
              </a:rPr>
              <a:t>بنية عربية أصلية</a:t>
            </a:r>
            <a:endParaRPr lang="en-US" sz="1600" dirty="0"/>
          </a:p>
        </p:txBody>
      </p:sp>
      <p:sp>
        <p:nvSpPr>
          <p:cNvPr id="15" name="Text 13"/>
          <p:cNvSpPr/>
          <p:nvPr/>
        </p:nvSpPr>
        <p:spPr>
          <a:xfrm>
            <a:off x="320040" y="3931920"/>
            <a:ext cx="3566160" cy="1828800"/>
          </a:xfrm>
          <a:prstGeom prst="rect">
            <a:avLst/>
          </a:prstGeom>
          <a:noFill/>
          <a:ln/>
        </p:spPr>
        <p:txBody>
          <a:bodyPr wrap="square" lIns="0" tIns="0" rIns="0" bIns="0" rtlCol="0" anchor="ctr"/>
          <a:lstStyle/>
          <a:p>
            <a:pPr rtl="1" algn="r" indent="0" marL="0">
              <a:lnSpc>
                <a:spcPts val="1800"/>
              </a:lnSpc>
              <a:buNone/>
            </a:pPr>
            <a:r>
              <a:rPr lang="en-US" sz="1100" dirty="0">
                <a:solidFill>
                  <a:srgbClr val="3D4A5C"/>
                </a:solidFill>
                <a:latin typeface="Tajawal" pitchFamily="34" charset="0"/>
                <a:ea typeface="Tajawal" pitchFamily="34" charset="-122"/>
                <a:cs typeface="Tajawal" pitchFamily="34" charset="-120"/>
              </a:rPr>
              <a:t>كل LLM عربي متاح هو</a:t>
            </a:r>
            <a:endParaRPr lang="en-US" sz="1100" dirty="0"/>
          </a:p>
          <a:p>
            <a:pPr rtl="1" algn="r" indent="0" marL="0">
              <a:lnSpc>
                <a:spcPts val="1800"/>
              </a:lnSpc>
              <a:buNone/>
            </a:pPr>
            <a:r>
              <a:rPr lang="en-US" sz="1100" dirty="0">
                <a:solidFill>
                  <a:srgbClr val="3D4A5C"/>
                </a:solidFill>
                <a:latin typeface="Tajawal" pitchFamily="34" charset="0"/>
                <a:ea typeface="Tajawal" pitchFamily="34" charset="-122"/>
                <a:cs typeface="Tajawal" pitchFamily="34" charset="-120"/>
              </a:rPr>
              <a:t>فاين-تيون لترانسفورمر</a:t>
            </a:r>
            <a:endParaRPr lang="en-US" sz="1100" dirty="0"/>
          </a:p>
          <a:p>
            <a:pPr rtl="1" algn="r" indent="0" marL="0">
              <a:lnSpc>
                <a:spcPts val="1800"/>
              </a:lnSpc>
              <a:buNone/>
            </a:pPr>
            <a:r>
              <a:rPr lang="en-US" sz="1100" dirty="0">
                <a:solidFill>
                  <a:srgbClr val="3D4A5C"/>
                </a:solidFill>
                <a:latin typeface="Tajawal" pitchFamily="34" charset="0"/>
                <a:ea typeface="Tajawal" pitchFamily="34" charset="-122"/>
                <a:cs typeface="Tajawal" pitchFamily="34" charset="-120"/>
              </a:rPr>
              <a:t>لا يوجد تصميم معماري للعربية</a:t>
            </a:r>
            <a:endParaRPr lang="en-US" sz="1100" dirty="0"/>
          </a:p>
        </p:txBody>
      </p:sp>
      <p:sp>
        <p:nvSpPr>
          <p:cNvPr id="16" name="Text 14"/>
          <p:cNvSpPr/>
          <p:nvPr/>
        </p:nvSpPr>
        <p:spPr>
          <a:xfrm>
            <a:off x="457200" y="6035040"/>
            <a:ext cx="11247120" cy="274320"/>
          </a:xfrm>
          <a:prstGeom prst="rect">
            <a:avLst/>
          </a:prstGeom>
          <a:noFill/>
          <a:ln/>
        </p:spPr>
        <p:txBody>
          <a:bodyPr wrap="square" lIns="0" tIns="0" rIns="0" bIns="0" rtlCol="0" anchor="ctr"/>
          <a:lstStyle/>
          <a:p>
            <a:pPr rtl="1" algn="r" indent="0" marL="0">
              <a:buNone/>
            </a:pPr>
            <a:r>
              <a:rPr lang="en-US" sz="900" i="1" dirty="0">
                <a:solidFill>
                  <a:srgbClr val="8A96A7"/>
                </a:solidFill>
                <a:latin typeface="Tajawal" pitchFamily="34" charset="0"/>
                <a:ea typeface="Tajawal" pitchFamily="34" charset="-122"/>
                <a:cs typeface="Tajawal" pitchFamily="34" charset="-120"/>
              </a:rPr>
              <a:t>المصادر: arXiv 2603.15773  ·  arXiv 2509.09199  ·  إفصاحات استراتيجية عامة  ·  تحليل ARKANE AI</a:t>
            </a:r>
            <a:endParaRPr lang="en-US" sz="900" dirty="0"/>
          </a:p>
        </p:txBody>
      </p:sp>
      <p:sp>
        <p:nvSpPr>
          <p:cNvPr id="17" name="Text 15"/>
          <p:cNvSpPr/>
          <p:nvPr/>
        </p:nvSpPr>
        <p:spPr>
          <a:xfrm>
            <a:off x="365760" y="6492240"/>
            <a:ext cx="3657600" cy="274320"/>
          </a:xfrm>
          <a:prstGeom prst="rect">
            <a:avLst/>
          </a:prstGeom>
          <a:noFill/>
          <a:ln/>
        </p:spPr>
        <p:txBody>
          <a:bodyPr wrap="square" lIns="0" tIns="0" rIns="0" bIns="0" rtlCol="0" anchor="ctr"/>
          <a:lstStyle/>
          <a:p>
            <a:pPr rtl="1" algn="l" indent="0" marL="0">
              <a:buNone/>
            </a:pPr>
            <a:r>
              <a:rPr lang="en-US" sz="800" dirty="0">
                <a:solidFill>
                  <a:srgbClr val="8A96A7"/>
                </a:solidFill>
                <a:latin typeface="Tajawal" pitchFamily="34" charset="0"/>
                <a:ea typeface="Tajawal" pitchFamily="34" charset="-122"/>
                <a:cs typeface="Tajawal" pitchFamily="34" charset="-120"/>
              </a:rPr>
              <a:t>ARKANE AI · سرّي</a:t>
            </a:r>
            <a:endParaRPr lang="en-US" sz="800" dirty="0"/>
          </a:p>
        </p:txBody>
      </p:sp>
      <p:sp>
        <p:nvSpPr>
          <p:cNvPr id="18" name="Text 16"/>
          <p:cNvSpPr/>
          <p:nvPr/>
        </p:nvSpPr>
        <p:spPr>
          <a:xfrm>
            <a:off x="11430000" y="6492240"/>
            <a:ext cx="548640" cy="274320"/>
          </a:xfrm>
          <a:prstGeom prst="rect">
            <a:avLst/>
          </a:prstGeom>
          <a:noFill/>
          <a:ln/>
        </p:spPr>
        <p:txBody>
          <a:bodyPr wrap="square" lIns="0" tIns="0" rIns="0" bIns="0" rtlCol="0" anchor="ctr"/>
          <a:lstStyle/>
          <a:p>
            <a:pPr algn="r" indent="0" marL="0">
              <a:buNone/>
            </a:pPr>
            <a:r>
              <a:rPr lang="en-US" sz="800" dirty="0">
                <a:solidFill>
                  <a:srgbClr val="8A96A7"/>
                </a:solidFill>
                <a:latin typeface="Calibri" pitchFamily="34" charset="0"/>
                <a:ea typeface="Calibri" pitchFamily="34" charset="-122"/>
                <a:cs typeface="Calibri" pitchFamily="34" charset="-120"/>
              </a:rPr>
              <a:t>3 / 18</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47120" y="365760"/>
            <a:ext cx="640080" cy="365760"/>
          </a:xfrm>
          <a:prstGeom prst="rect">
            <a:avLst/>
          </a:prstGeom>
          <a:noFill/>
          <a:ln/>
        </p:spPr>
        <p:txBody>
          <a:bodyPr wrap="square" lIns="0" tIns="0" rIns="0" bIns="0" rtlCol="0" anchor="ctr"/>
          <a:lstStyle/>
          <a:p>
            <a:pPr algn="r" indent="0" marL="0">
              <a:buNone/>
            </a:pPr>
            <a:r>
              <a:rPr lang="en-US" sz="1400" b="1" dirty="0">
                <a:solidFill>
                  <a:srgbClr val="C49A2B"/>
                </a:solidFill>
                <a:latin typeface="Calibri" pitchFamily="34" charset="0"/>
                <a:ea typeface="Calibri" pitchFamily="34" charset="-122"/>
                <a:cs typeface="Calibri" pitchFamily="34" charset="-120"/>
              </a:rPr>
              <a:t>03</a:t>
            </a:r>
            <a:endParaRPr lang="en-US" sz="1400" dirty="0"/>
          </a:p>
        </p:txBody>
      </p:sp>
      <p:sp>
        <p:nvSpPr>
          <p:cNvPr id="3" name="Text 1"/>
          <p:cNvSpPr/>
          <p:nvPr/>
        </p:nvSpPr>
        <p:spPr>
          <a:xfrm>
            <a:off x="457200" y="685800"/>
            <a:ext cx="11247120" cy="731520"/>
          </a:xfrm>
          <a:prstGeom prst="rect">
            <a:avLst/>
          </a:prstGeom>
          <a:noFill/>
          <a:ln/>
        </p:spPr>
        <p:txBody>
          <a:bodyPr wrap="square" lIns="0" tIns="0" rIns="0" bIns="0" rtlCol="0" anchor="ctr"/>
          <a:lstStyle/>
          <a:p>
            <a:pPr rtl="1" algn="r" indent="0" marL="0">
              <a:buNone/>
            </a:pPr>
            <a:r>
              <a:rPr lang="en-US" sz="3600" b="1" dirty="0">
                <a:solidFill>
                  <a:srgbClr val="0F2745"/>
                </a:solidFill>
                <a:latin typeface="Tajawal" pitchFamily="34" charset="0"/>
                <a:ea typeface="Tajawal" pitchFamily="34" charset="-122"/>
                <a:cs typeface="Tajawal" pitchFamily="34" charset="-120"/>
              </a:rPr>
              <a:t>لماذا الآن: ثلاث قوى متلاقية</a:t>
            </a:r>
            <a:endParaRPr lang="en-US" sz="3600" dirty="0"/>
          </a:p>
        </p:txBody>
      </p:sp>
      <p:sp>
        <p:nvSpPr>
          <p:cNvPr id="4" name="Shape 2"/>
          <p:cNvSpPr/>
          <p:nvPr/>
        </p:nvSpPr>
        <p:spPr>
          <a:xfrm>
            <a:off x="10789920" y="1417320"/>
            <a:ext cx="914400" cy="45720"/>
          </a:xfrm>
          <a:prstGeom prst="rect">
            <a:avLst/>
          </a:prstGeom>
          <a:solidFill>
            <a:srgbClr val="C49A2B"/>
          </a:solidFill>
          <a:ln/>
        </p:spPr>
      </p:sp>
      <p:sp>
        <p:nvSpPr>
          <p:cNvPr id="5" name="Shape 3"/>
          <p:cNvSpPr/>
          <p:nvPr/>
        </p:nvSpPr>
        <p:spPr>
          <a:xfrm>
            <a:off x="11521440" y="1828800"/>
            <a:ext cx="54864" cy="1234440"/>
          </a:xfrm>
          <a:prstGeom prst="rect">
            <a:avLst/>
          </a:prstGeom>
          <a:solidFill>
            <a:srgbClr val="C49A2B"/>
          </a:solidFill>
          <a:ln/>
        </p:spPr>
      </p:sp>
      <p:sp>
        <p:nvSpPr>
          <p:cNvPr id="6" name="Text 4"/>
          <p:cNvSpPr/>
          <p:nvPr/>
        </p:nvSpPr>
        <p:spPr>
          <a:xfrm>
            <a:off x="457200" y="1828800"/>
            <a:ext cx="10972800" cy="457200"/>
          </a:xfrm>
          <a:prstGeom prst="rect">
            <a:avLst/>
          </a:prstGeom>
          <a:noFill/>
          <a:ln/>
        </p:spPr>
        <p:txBody>
          <a:bodyPr wrap="square" lIns="0" tIns="0" rIns="0" bIns="0" rtlCol="0" anchor="ctr"/>
          <a:lstStyle/>
          <a:p>
            <a:pPr rtl="1" algn="r" indent="0" marL="0">
              <a:buNone/>
            </a:pPr>
            <a:r>
              <a:rPr lang="en-US" sz="1800" b="1" dirty="0">
                <a:solidFill>
                  <a:srgbClr val="0F2745"/>
                </a:solidFill>
                <a:latin typeface="Tajawal" pitchFamily="34" charset="0"/>
                <a:ea typeface="Tajawal" pitchFamily="34" charset="-122"/>
                <a:cs typeface="Tajawal" pitchFamily="34" charset="-120"/>
              </a:rPr>
              <a:t>2026: عام الذكاء الاصطناعي</a:t>
            </a:r>
            <a:endParaRPr lang="en-US" sz="1800" dirty="0"/>
          </a:p>
        </p:txBody>
      </p:sp>
      <p:sp>
        <p:nvSpPr>
          <p:cNvPr id="7" name="Text 5"/>
          <p:cNvSpPr/>
          <p:nvPr/>
        </p:nvSpPr>
        <p:spPr>
          <a:xfrm>
            <a:off x="457200" y="2240280"/>
            <a:ext cx="10972800" cy="822960"/>
          </a:xfrm>
          <a:prstGeom prst="rect">
            <a:avLst/>
          </a:prstGeom>
          <a:noFill/>
          <a:ln/>
        </p:spPr>
        <p:txBody>
          <a:bodyPr wrap="square" lIns="0" tIns="0" rIns="0" bIns="0" rtlCol="0" anchor="ctr"/>
          <a:lstStyle/>
          <a:p>
            <a:pPr rtl="1" algn="r" indent="0" marL="0">
              <a:lnSpc>
                <a:spcPts val="2000"/>
              </a:lnSpc>
              <a:buNone/>
            </a:pPr>
            <a:r>
              <a:rPr lang="en-US" sz="1200" dirty="0">
                <a:solidFill>
                  <a:srgbClr val="3D4A5C"/>
                </a:solidFill>
                <a:latin typeface="Tajawal" pitchFamily="34" charset="0"/>
                <a:ea typeface="Tajawal" pitchFamily="34" charset="-122"/>
                <a:cs typeface="Tajawal" pitchFamily="34" charset="-120"/>
              </a:rPr>
              <a:t>مرسوم ملكي يُسمّي 2026 عاماً للذكاء الاصطناعي. مبادرات سيادية إقليمية للذكاء الاصطناعي مُرسملة بـ 90–300 مليار دولار تستهدف حوسبة متعددة الجيجاواتات. استراتيجيات رأس المال السيادي للفترة 2026–2030 تُعيد توجيه التدفقات نحو الذكاء الاصطناعي مع طروحات عامة متعددة مخطّطة.</a:t>
            </a:r>
            <a:endParaRPr lang="en-US" sz="1200" dirty="0"/>
          </a:p>
        </p:txBody>
      </p:sp>
      <p:sp>
        <p:nvSpPr>
          <p:cNvPr id="8" name="Shape 6"/>
          <p:cNvSpPr/>
          <p:nvPr/>
        </p:nvSpPr>
        <p:spPr>
          <a:xfrm>
            <a:off x="11521440" y="3246120"/>
            <a:ext cx="54864" cy="1234440"/>
          </a:xfrm>
          <a:prstGeom prst="rect">
            <a:avLst/>
          </a:prstGeom>
          <a:solidFill>
            <a:srgbClr val="C49A2B"/>
          </a:solidFill>
          <a:ln/>
        </p:spPr>
      </p:sp>
      <p:sp>
        <p:nvSpPr>
          <p:cNvPr id="9" name="Text 7"/>
          <p:cNvSpPr/>
          <p:nvPr/>
        </p:nvSpPr>
        <p:spPr>
          <a:xfrm>
            <a:off x="457200" y="3246120"/>
            <a:ext cx="10972800" cy="457200"/>
          </a:xfrm>
          <a:prstGeom prst="rect">
            <a:avLst/>
          </a:prstGeom>
          <a:noFill/>
          <a:ln/>
        </p:spPr>
        <p:txBody>
          <a:bodyPr wrap="square" lIns="0" tIns="0" rIns="0" bIns="0" rtlCol="0" anchor="ctr"/>
          <a:lstStyle/>
          <a:p>
            <a:pPr rtl="1" algn="r" indent="0" marL="0">
              <a:buNone/>
            </a:pPr>
            <a:r>
              <a:rPr lang="en-US" sz="1800" b="1" dirty="0">
                <a:solidFill>
                  <a:srgbClr val="0F2745"/>
                </a:solidFill>
                <a:latin typeface="Tajawal" pitchFamily="34" charset="0"/>
                <a:ea typeface="Tajawal" pitchFamily="34" charset="-122"/>
                <a:cs typeface="Tajawal" pitchFamily="34" charset="-120"/>
              </a:rPr>
              <a:t>نضج أبحاث السياق الطويل</a:t>
            </a:r>
            <a:endParaRPr lang="en-US" sz="1800" dirty="0"/>
          </a:p>
        </p:txBody>
      </p:sp>
      <p:sp>
        <p:nvSpPr>
          <p:cNvPr id="10" name="Text 8"/>
          <p:cNvSpPr/>
          <p:nvPr/>
        </p:nvSpPr>
        <p:spPr>
          <a:xfrm>
            <a:off x="457200" y="3657600"/>
            <a:ext cx="10972800" cy="822960"/>
          </a:xfrm>
          <a:prstGeom prst="rect">
            <a:avLst/>
          </a:prstGeom>
          <a:noFill/>
          <a:ln/>
        </p:spPr>
        <p:txBody>
          <a:bodyPr wrap="square" lIns="0" tIns="0" rIns="0" bIns="0" rtlCol="0" anchor="ctr"/>
          <a:lstStyle/>
          <a:p>
            <a:pPr rtl="1" algn="r" indent="0" marL="0">
              <a:lnSpc>
                <a:spcPts val="2000"/>
              </a:lnSpc>
              <a:buNone/>
            </a:pPr>
            <a:r>
              <a:rPr lang="en-US" sz="1200" dirty="0">
                <a:solidFill>
                  <a:srgbClr val="3D4A5C"/>
                </a:solidFill>
                <a:latin typeface="Tajawal" pitchFamily="34" charset="0"/>
                <a:ea typeface="Tajawal" pitchFamily="34" charset="-122"/>
                <a:cs typeface="Tajawal" pitchFamily="34" charset="-120"/>
              </a:rPr>
              <a:t>ضغط السياق الطويل (Infini-attention, DAST, LCIRC, ATACompressor) نضج بما يكفي. البناء فوق الأساليب المنشورة صار ممكناً لفريق مركّز من 5–7 أشخاص خلال 9–14 شهراً.</a:t>
            </a:r>
            <a:endParaRPr lang="en-US" sz="1200" dirty="0"/>
          </a:p>
        </p:txBody>
      </p:sp>
      <p:sp>
        <p:nvSpPr>
          <p:cNvPr id="11" name="Shape 9"/>
          <p:cNvSpPr/>
          <p:nvPr/>
        </p:nvSpPr>
        <p:spPr>
          <a:xfrm>
            <a:off x="11521440" y="4663440"/>
            <a:ext cx="54864" cy="1234440"/>
          </a:xfrm>
          <a:prstGeom prst="rect">
            <a:avLst/>
          </a:prstGeom>
          <a:solidFill>
            <a:srgbClr val="C49A2B"/>
          </a:solidFill>
          <a:ln/>
        </p:spPr>
      </p:sp>
      <p:sp>
        <p:nvSpPr>
          <p:cNvPr id="12" name="Text 10"/>
          <p:cNvSpPr/>
          <p:nvPr/>
        </p:nvSpPr>
        <p:spPr>
          <a:xfrm>
            <a:off x="457200" y="4663440"/>
            <a:ext cx="10972800" cy="457200"/>
          </a:xfrm>
          <a:prstGeom prst="rect">
            <a:avLst/>
          </a:prstGeom>
          <a:noFill/>
          <a:ln/>
        </p:spPr>
        <p:txBody>
          <a:bodyPr wrap="square" lIns="0" tIns="0" rIns="0" bIns="0" rtlCol="0" anchor="ctr"/>
          <a:lstStyle/>
          <a:p>
            <a:pPr rtl="1" algn="r" indent="0" marL="0">
              <a:buNone/>
            </a:pPr>
            <a:r>
              <a:rPr lang="en-US" sz="1800" b="1" dirty="0">
                <a:solidFill>
                  <a:srgbClr val="0F2745"/>
                </a:solidFill>
                <a:latin typeface="Tajawal" pitchFamily="34" charset="0"/>
                <a:ea typeface="Tajawal" pitchFamily="34" charset="-122"/>
                <a:cs typeface="Tajawal" pitchFamily="34" charset="-120"/>
              </a:rPr>
              <a:t>موقع شاغر</a:t>
            </a:r>
            <a:endParaRPr lang="en-US" sz="1800" dirty="0"/>
          </a:p>
        </p:txBody>
      </p:sp>
      <p:sp>
        <p:nvSpPr>
          <p:cNvPr id="13" name="Text 11"/>
          <p:cNvSpPr/>
          <p:nvPr/>
        </p:nvSpPr>
        <p:spPr>
          <a:xfrm>
            <a:off x="457200" y="5074920"/>
            <a:ext cx="10972800" cy="822960"/>
          </a:xfrm>
          <a:prstGeom prst="rect">
            <a:avLst/>
          </a:prstGeom>
          <a:noFill/>
          <a:ln/>
        </p:spPr>
        <p:txBody>
          <a:bodyPr wrap="square" lIns="0" tIns="0" rIns="0" bIns="0" rtlCol="0" anchor="ctr"/>
          <a:lstStyle/>
          <a:p>
            <a:pPr rtl="1" algn="r" indent="0" marL="0">
              <a:lnSpc>
                <a:spcPts val="2000"/>
              </a:lnSpc>
              <a:buNone/>
            </a:pPr>
            <a:r>
              <a:rPr lang="en-US" sz="1200" dirty="0">
                <a:solidFill>
                  <a:srgbClr val="3D4A5C"/>
                </a:solidFill>
                <a:latin typeface="Tajawal" pitchFamily="34" charset="0"/>
                <a:ea typeface="Tajawal" pitchFamily="34" charset="-122"/>
                <a:cs typeface="Tajawal" pitchFamily="34" charset="-120"/>
              </a:rPr>
              <a:t>صفر بنية عربية أصلية موجودة. جميع نماذج اللغة العربية الكبرى المتاحة هي فاين-تيون لترانسفورمر. النافذة 18–36 شهراً قبل أن تُرسّخ النماذج السيادية الإقليمية الأولى خياراتها المعمارية مفتوحةٌ الآن.</a:t>
            </a:r>
            <a:endParaRPr lang="en-US" sz="1200" dirty="0"/>
          </a:p>
        </p:txBody>
      </p:sp>
      <p:sp>
        <p:nvSpPr>
          <p:cNvPr id="14" name="Text 12"/>
          <p:cNvSpPr/>
          <p:nvPr/>
        </p:nvSpPr>
        <p:spPr>
          <a:xfrm>
            <a:off x="457200" y="6126480"/>
            <a:ext cx="11247120" cy="365760"/>
          </a:xfrm>
          <a:prstGeom prst="rect">
            <a:avLst/>
          </a:prstGeom>
          <a:noFill/>
          <a:ln/>
        </p:spPr>
        <p:txBody>
          <a:bodyPr wrap="square" lIns="0" tIns="0" rIns="0" bIns="0" rtlCol="0" anchor="ctr"/>
          <a:lstStyle/>
          <a:p>
            <a:pPr rtl="1" algn="r" indent="0" marL="0">
              <a:buNone/>
            </a:pPr>
            <a:r>
              <a:rPr lang="en-US" sz="1400" b="1" i="1" dirty="0">
                <a:solidFill>
                  <a:srgbClr val="C49A2B"/>
                </a:solidFill>
                <a:latin typeface="Tajawal" pitchFamily="34" charset="0"/>
                <a:ea typeface="Tajawal" pitchFamily="34" charset="-122"/>
                <a:cs typeface="Tajawal" pitchFamily="34" charset="-120"/>
              </a:rPr>
              <a:t>النافذة ضيّقة بشكل غير معتاد ـ وواضحة بشكل غير معتاد.</a:t>
            </a:r>
            <a:endParaRPr lang="en-US" sz="1400" dirty="0"/>
          </a:p>
        </p:txBody>
      </p:sp>
      <p:sp>
        <p:nvSpPr>
          <p:cNvPr id="15" name="Text 13"/>
          <p:cNvSpPr/>
          <p:nvPr/>
        </p:nvSpPr>
        <p:spPr>
          <a:xfrm>
            <a:off x="365760" y="6492240"/>
            <a:ext cx="3657600" cy="274320"/>
          </a:xfrm>
          <a:prstGeom prst="rect">
            <a:avLst/>
          </a:prstGeom>
          <a:noFill/>
          <a:ln/>
        </p:spPr>
        <p:txBody>
          <a:bodyPr wrap="square" lIns="0" tIns="0" rIns="0" bIns="0" rtlCol="0" anchor="ctr"/>
          <a:lstStyle/>
          <a:p>
            <a:pPr rtl="1" algn="l" indent="0" marL="0">
              <a:buNone/>
            </a:pPr>
            <a:r>
              <a:rPr lang="en-US" sz="800" dirty="0">
                <a:solidFill>
                  <a:srgbClr val="8A96A7"/>
                </a:solidFill>
                <a:latin typeface="Tajawal" pitchFamily="34" charset="0"/>
                <a:ea typeface="Tajawal" pitchFamily="34" charset="-122"/>
                <a:cs typeface="Tajawal" pitchFamily="34" charset="-120"/>
              </a:rPr>
              <a:t>ARKANE AI · سرّي</a:t>
            </a:r>
            <a:endParaRPr lang="en-US" sz="800" dirty="0"/>
          </a:p>
        </p:txBody>
      </p:sp>
      <p:sp>
        <p:nvSpPr>
          <p:cNvPr id="16" name="Text 14"/>
          <p:cNvSpPr/>
          <p:nvPr/>
        </p:nvSpPr>
        <p:spPr>
          <a:xfrm>
            <a:off x="11430000" y="6492240"/>
            <a:ext cx="548640" cy="274320"/>
          </a:xfrm>
          <a:prstGeom prst="rect">
            <a:avLst/>
          </a:prstGeom>
          <a:noFill/>
          <a:ln/>
        </p:spPr>
        <p:txBody>
          <a:bodyPr wrap="square" lIns="0" tIns="0" rIns="0" bIns="0" rtlCol="0" anchor="ctr"/>
          <a:lstStyle/>
          <a:p>
            <a:pPr algn="r" indent="0" marL="0">
              <a:buNone/>
            </a:pPr>
            <a:r>
              <a:rPr lang="en-US" sz="800" dirty="0">
                <a:solidFill>
                  <a:srgbClr val="8A96A7"/>
                </a:solidFill>
                <a:latin typeface="Calibri" pitchFamily="34" charset="0"/>
                <a:ea typeface="Calibri" pitchFamily="34" charset="-122"/>
                <a:cs typeface="Calibri" pitchFamily="34" charset="-120"/>
              </a:rPr>
              <a:t>4 / 18</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745"/>
        </a:solidFill>
      </p:bgPr>
    </p:bg>
    <p:spTree>
      <p:nvGrpSpPr>
        <p:cNvPr id="1" name=""/>
        <p:cNvGrpSpPr/>
        <p:nvPr/>
      </p:nvGrpSpPr>
      <p:grpSpPr>
        <a:xfrm>
          <a:off x="0" y="0"/>
          <a:ext cx="0" cy="0"/>
          <a:chOff x="0" y="0"/>
          <a:chExt cx="0" cy="0"/>
        </a:xfrm>
      </p:grpSpPr>
      <p:sp>
        <p:nvSpPr>
          <p:cNvPr id="2" name="Text 0"/>
          <p:cNvSpPr/>
          <p:nvPr/>
        </p:nvSpPr>
        <p:spPr>
          <a:xfrm>
            <a:off x="11247120" y="365760"/>
            <a:ext cx="640080" cy="365760"/>
          </a:xfrm>
          <a:prstGeom prst="rect">
            <a:avLst/>
          </a:prstGeom>
          <a:noFill/>
          <a:ln/>
        </p:spPr>
        <p:txBody>
          <a:bodyPr wrap="square" lIns="0" tIns="0" rIns="0" bIns="0" rtlCol="0" anchor="ctr"/>
          <a:lstStyle/>
          <a:p>
            <a:pPr algn="r" indent="0" marL="0">
              <a:buNone/>
            </a:pPr>
            <a:r>
              <a:rPr lang="en-US" sz="1400" b="1" dirty="0">
                <a:solidFill>
                  <a:srgbClr val="C49A2B"/>
                </a:solidFill>
                <a:latin typeface="Calibri" pitchFamily="34" charset="0"/>
                <a:ea typeface="Calibri" pitchFamily="34" charset="-122"/>
                <a:cs typeface="Calibri" pitchFamily="34" charset="-120"/>
              </a:rPr>
              <a:t>04</a:t>
            </a:r>
            <a:endParaRPr lang="en-US" sz="1400" dirty="0"/>
          </a:p>
        </p:txBody>
      </p:sp>
      <p:sp>
        <p:nvSpPr>
          <p:cNvPr id="3" name="Text 1"/>
          <p:cNvSpPr/>
          <p:nvPr/>
        </p:nvSpPr>
        <p:spPr>
          <a:xfrm>
            <a:off x="457200" y="685800"/>
            <a:ext cx="11247120" cy="731520"/>
          </a:xfrm>
          <a:prstGeom prst="rect">
            <a:avLst/>
          </a:prstGeom>
          <a:noFill/>
          <a:ln/>
        </p:spPr>
        <p:txBody>
          <a:bodyPr wrap="square" lIns="0" tIns="0" rIns="0" bIns="0" rtlCol="0" anchor="ctr"/>
          <a:lstStyle/>
          <a:p>
            <a:pPr rtl="1" algn="r" indent="0" marL="0">
              <a:buNone/>
            </a:pPr>
            <a:r>
              <a:rPr lang="en-US" sz="3600" b="1" dirty="0">
                <a:solidFill>
                  <a:srgbClr val="FFFFFF"/>
                </a:solidFill>
                <a:latin typeface="Tajawal" pitchFamily="34" charset="0"/>
                <a:ea typeface="Tajawal" pitchFamily="34" charset="-122"/>
                <a:cs typeface="Tajawal" pitchFamily="34" charset="-120"/>
              </a:rPr>
              <a:t>بنية السياق السائل</a:t>
            </a:r>
            <a:endParaRPr lang="en-US" sz="3600" dirty="0"/>
          </a:p>
        </p:txBody>
      </p:sp>
      <p:sp>
        <p:nvSpPr>
          <p:cNvPr id="4" name="Shape 2"/>
          <p:cNvSpPr/>
          <p:nvPr/>
        </p:nvSpPr>
        <p:spPr>
          <a:xfrm>
            <a:off x="10789920" y="1417320"/>
            <a:ext cx="914400" cy="45720"/>
          </a:xfrm>
          <a:prstGeom prst="rect">
            <a:avLst/>
          </a:prstGeom>
          <a:solidFill>
            <a:srgbClr val="C49A2B"/>
          </a:solidFill>
          <a:ln/>
        </p:spPr>
      </p:sp>
      <p:sp>
        <p:nvSpPr>
          <p:cNvPr id="5" name="Text 3"/>
          <p:cNvSpPr/>
          <p:nvPr/>
        </p:nvSpPr>
        <p:spPr>
          <a:xfrm>
            <a:off x="457200" y="1645920"/>
            <a:ext cx="11247120" cy="640080"/>
          </a:xfrm>
          <a:prstGeom prst="rect">
            <a:avLst/>
          </a:prstGeom>
          <a:noFill/>
          <a:ln/>
        </p:spPr>
        <p:txBody>
          <a:bodyPr wrap="square" lIns="0" tIns="0" rIns="0" bIns="0" rtlCol="0" anchor="ctr"/>
          <a:lstStyle/>
          <a:p>
            <a:pPr rtl="1" algn="r" indent="0" marL="0">
              <a:buNone/>
            </a:pPr>
            <a:r>
              <a:rPr lang="en-US" sz="1500" dirty="0">
                <a:solidFill>
                  <a:srgbClr val="E8C66E"/>
                </a:solidFill>
                <a:latin typeface="Tajawal" pitchFamily="34" charset="0"/>
                <a:ea typeface="Tajawal" pitchFamily="34" charset="-122"/>
                <a:cs typeface="Tajawal" pitchFamily="34" charset="-120"/>
              </a:rPr>
              <a:t>بنية ذاكرة جديدة لنماذج اللغة الترانسفورمرية، مُصمَّمة من المبادئ الأولى حول الخصائص البنيوية للعربية.</a:t>
            </a:r>
            <a:endParaRPr lang="en-US" sz="1500" dirty="0"/>
          </a:p>
        </p:txBody>
      </p:sp>
      <p:sp>
        <p:nvSpPr>
          <p:cNvPr id="6" name="Shape 4"/>
          <p:cNvSpPr/>
          <p:nvPr/>
        </p:nvSpPr>
        <p:spPr>
          <a:xfrm>
            <a:off x="7589520" y="2651760"/>
            <a:ext cx="3611880" cy="3383280"/>
          </a:xfrm>
          <a:prstGeom prst="roundRect">
            <a:avLst>
              <a:gd name="adj" fmla="val 2162"/>
            </a:avLst>
          </a:prstGeom>
          <a:solidFill>
            <a:srgbClr val="0A1B2F"/>
          </a:solidFill>
          <a:ln w="6350">
            <a:solidFill>
              <a:srgbClr val="C49A2B"/>
            </a:solidFill>
            <a:prstDash val="solid"/>
          </a:ln>
        </p:spPr>
      </p:sp>
      <p:sp>
        <p:nvSpPr>
          <p:cNvPr id="7" name="Text 5"/>
          <p:cNvSpPr/>
          <p:nvPr/>
        </p:nvSpPr>
        <p:spPr>
          <a:xfrm>
            <a:off x="7863840" y="2834640"/>
            <a:ext cx="914400" cy="457200"/>
          </a:xfrm>
          <a:prstGeom prst="rect">
            <a:avLst/>
          </a:prstGeom>
          <a:noFill/>
          <a:ln/>
        </p:spPr>
        <p:txBody>
          <a:bodyPr wrap="square" lIns="0" tIns="0" rIns="0" bIns="0" rtlCol="0" anchor="ctr"/>
          <a:lstStyle/>
          <a:p>
            <a:pPr algn="l" indent="0" marL="0">
              <a:buNone/>
            </a:pPr>
            <a:r>
              <a:rPr lang="en-US" sz="1400" b="1" dirty="0">
                <a:solidFill>
                  <a:srgbClr val="C49A2B"/>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7863840" y="3383280"/>
            <a:ext cx="3108960" cy="1005840"/>
          </a:xfrm>
          <a:prstGeom prst="rect">
            <a:avLst/>
          </a:prstGeom>
          <a:noFill/>
          <a:ln/>
        </p:spPr>
        <p:txBody>
          <a:bodyPr wrap="square" lIns="0" tIns="0" rIns="0" bIns="0" rtlCol="0" anchor="ctr"/>
          <a:lstStyle/>
          <a:p>
            <a:pPr rtl="1" algn="r" indent="0" marL="0">
              <a:lnSpc>
                <a:spcPts val="2400"/>
              </a:lnSpc>
              <a:buNone/>
            </a:pPr>
            <a:r>
              <a:rPr lang="en-US" sz="1600" b="1" dirty="0">
                <a:solidFill>
                  <a:srgbClr val="FFFFFF"/>
                </a:solidFill>
                <a:latin typeface="Tajawal" pitchFamily="34" charset="0"/>
                <a:ea typeface="Tajawal" pitchFamily="34" charset="-122"/>
                <a:cs typeface="Tajawal" pitchFamily="34" charset="-120"/>
              </a:rPr>
              <a:t>ضغط هرمي مشروط بالاستعلام</a:t>
            </a:r>
            <a:endParaRPr lang="en-US" sz="1600" dirty="0"/>
          </a:p>
        </p:txBody>
      </p:sp>
      <p:sp>
        <p:nvSpPr>
          <p:cNvPr id="9" name="Text 7"/>
          <p:cNvSpPr/>
          <p:nvPr/>
        </p:nvSpPr>
        <p:spPr>
          <a:xfrm>
            <a:off x="7863840" y="4434840"/>
            <a:ext cx="3108960" cy="1554480"/>
          </a:xfrm>
          <a:prstGeom prst="rect">
            <a:avLst/>
          </a:prstGeom>
          <a:noFill/>
          <a:ln/>
        </p:spPr>
        <p:txBody>
          <a:bodyPr wrap="square" lIns="0" tIns="0" rIns="0" bIns="0" rtlCol="0" anchor="ctr"/>
          <a:lstStyle/>
          <a:p>
            <a:pPr rtl="1" algn="r" indent="0" marL="0">
              <a:lnSpc>
                <a:spcPts val="1800"/>
              </a:lnSpc>
              <a:buNone/>
            </a:pPr>
            <a:r>
              <a:rPr lang="en-US" sz="1100" dirty="0">
                <a:solidFill>
                  <a:srgbClr val="E8C66E"/>
                </a:solidFill>
                <a:latin typeface="Tajawal" pitchFamily="34" charset="0"/>
                <a:ea typeface="Tajawal" pitchFamily="34" charset="-122"/>
                <a:cs typeface="Tajawal" pitchFamily="34" charset="-120"/>
              </a:rPr>
              <a:t>السياق مُخزَّن كمنحنى دلالي متعدد الدقّات.</a:t>
            </a:r>
            <a:endParaRPr lang="en-US" sz="1100" dirty="0"/>
          </a:p>
          <a:p>
            <a:pPr rtl="1" algn="r" indent="0" marL="0">
              <a:lnSpc>
                <a:spcPts val="1800"/>
              </a:lnSpc>
              <a:buNone/>
            </a:pPr>
            <a:r>
              <a:rPr lang="en-US" sz="1100" dirty="0">
                <a:solidFill>
                  <a:srgbClr val="E8C66E"/>
                </a:solidFill>
                <a:latin typeface="Tajawal" pitchFamily="34" charset="0"/>
                <a:ea typeface="Tajawal" pitchFamily="34" charset="-122"/>
                <a:cs typeface="Tajawal" pitchFamily="34" charset="-120"/>
              </a:rPr>
              <a:t>فك ضغط انتقائي حسب الاستعلام النشط.</a:t>
            </a:r>
            <a:endParaRPr lang="en-US" sz="1100" dirty="0"/>
          </a:p>
          <a:p>
            <a:pPr rtl="1" algn="r" indent="0" marL="0">
              <a:lnSpc>
                <a:spcPts val="1800"/>
              </a:lnSpc>
              <a:buNone/>
            </a:pPr>
            <a:r>
              <a:rPr lang="en-US" sz="1100" dirty="0">
                <a:solidFill>
                  <a:srgbClr val="E8C66E"/>
                </a:solidFill>
                <a:latin typeface="Tajawal" pitchFamily="34" charset="0"/>
                <a:ea typeface="Tajawal" pitchFamily="34" charset="-122"/>
                <a:cs typeface="Tajawal" pitchFamily="34" charset="-120"/>
              </a:rPr>
              <a:t>سياق غير محدود فعلياً بحوسبة محدودة.</a:t>
            </a:r>
            <a:endParaRPr lang="en-US" sz="1100" dirty="0"/>
          </a:p>
        </p:txBody>
      </p:sp>
      <p:sp>
        <p:nvSpPr>
          <p:cNvPr id="10" name="Shape 8"/>
          <p:cNvSpPr/>
          <p:nvPr/>
        </p:nvSpPr>
        <p:spPr>
          <a:xfrm>
            <a:off x="3886200" y="2651760"/>
            <a:ext cx="3611880" cy="3383280"/>
          </a:xfrm>
          <a:prstGeom prst="roundRect">
            <a:avLst>
              <a:gd name="adj" fmla="val 2162"/>
            </a:avLst>
          </a:prstGeom>
          <a:solidFill>
            <a:srgbClr val="0A1B2F"/>
          </a:solidFill>
          <a:ln w="6350">
            <a:solidFill>
              <a:srgbClr val="C49A2B"/>
            </a:solidFill>
            <a:prstDash val="solid"/>
          </a:ln>
        </p:spPr>
      </p:sp>
      <p:sp>
        <p:nvSpPr>
          <p:cNvPr id="11" name="Text 9"/>
          <p:cNvSpPr/>
          <p:nvPr/>
        </p:nvSpPr>
        <p:spPr>
          <a:xfrm>
            <a:off x="4160520" y="2834640"/>
            <a:ext cx="914400" cy="457200"/>
          </a:xfrm>
          <a:prstGeom prst="rect">
            <a:avLst/>
          </a:prstGeom>
          <a:noFill/>
          <a:ln/>
        </p:spPr>
        <p:txBody>
          <a:bodyPr wrap="square" lIns="0" tIns="0" rIns="0" bIns="0" rtlCol="0" anchor="ctr"/>
          <a:lstStyle/>
          <a:p>
            <a:pPr algn="l" indent="0" marL="0">
              <a:buNone/>
            </a:pPr>
            <a:r>
              <a:rPr lang="en-US" sz="1400" b="1" dirty="0">
                <a:solidFill>
                  <a:srgbClr val="C49A2B"/>
                </a:solidFill>
                <a:latin typeface="Calibri" pitchFamily="34" charset="0"/>
                <a:ea typeface="Calibri" pitchFamily="34" charset="-122"/>
                <a:cs typeface="Calibri" pitchFamily="34" charset="-120"/>
              </a:rPr>
              <a:t>02</a:t>
            </a:r>
            <a:endParaRPr lang="en-US" sz="1400" dirty="0"/>
          </a:p>
        </p:txBody>
      </p:sp>
      <p:sp>
        <p:nvSpPr>
          <p:cNvPr id="12" name="Text 10"/>
          <p:cNvSpPr/>
          <p:nvPr/>
        </p:nvSpPr>
        <p:spPr>
          <a:xfrm>
            <a:off x="4160520" y="3383280"/>
            <a:ext cx="3108960" cy="1005840"/>
          </a:xfrm>
          <a:prstGeom prst="rect">
            <a:avLst/>
          </a:prstGeom>
          <a:noFill/>
          <a:ln/>
        </p:spPr>
        <p:txBody>
          <a:bodyPr wrap="square" lIns="0" tIns="0" rIns="0" bIns="0" rtlCol="0" anchor="ctr"/>
          <a:lstStyle/>
          <a:p>
            <a:pPr rtl="1" algn="r" indent="0" marL="0">
              <a:lnSpc>
                <a:spcPts val="2400"/>
              </a:lnSpc>
              <a:buNone/>
            </a:pPr>
            <a:r>
              <a:rPr lang="en-US" sz="1600" b="1" dirty="0">
                <a:solidFill>
                  <a:srgbClr val="FFFFFF"/>
                </a:solidFill>
                <a:latin typeface="Tajawal" pitchFamily="34" charset="0"/>
                <a:ea typeface="Tajawal" pitchFamily="34" charset="-122"/>
                <a:cs typeface="Tajawal" pitchFamily="34" charset="-120"/>
              </a:rPr>
              <a:t>ضغط لا تماثلي صرفياً</a:t>
            </a:r>
            <a:endParaRPr lang="en-US" sz="1600" dirty="0"/>
          </a:p>
        </p:txBody>
      </p:sp>
      <p:sp>
        <p:nvSpPr>
          <p:cNvPr id="13" name="Text 11"/>
          <p:cNvSpPr/>
          <p:nvPr/>
        </p:nvSpPr>
        <p:spPr>
          <a:xfrm>
            <a:off x="4160520" y="4434840"/>
            <a:ext cx="3108960" cy="1554480"/>
          </a:xfrm>
          <a:prstGeom prst="rect">
            <a:avLst/>
          </a:prstGeom>
          <a:noFill/>
          <a:ln/>
        </p:spPr>
        <p:txBody>
          <a:bodyPr wrap="square" lIns="0" tIns="0" rIns="0" bIns="0" rtlCol="0" anchor="ctr"/>
          <a:lstStyle/>
          <a:p>
            <a:pPr rtl="1" algn="r" indent="0" marL="0">
              <a:lnSpc>
                <a:spcPts val="1800"/>
              </a:lnSpc>
              <a:buNone/>
            </a:pPr>
            <a:r>
              <a:rPr lang="en-US" sz="1100" dirty="0">
                <a:solidFill>
                  <a:srgbClr val="E8C66E"/>
                </a:solidFill>
                <a:latin typeface="Tajawal" pitchFamily="34" charset="0"/>
                <a:ea typeface="Tajawal" pitchFamily="34" charset="-122"/>
                <a:cs typeface="Tajawal" pitchFamily="34" charset="-120"/>
              </a:rPr>
              <a:t>الجذور (الجذر)، الأوزان (الوزن)، والأدوات</a:t>
            </a:r>
            <a:endParaRPr lang="en-US" sz="1100" dirty="0"/>
          </a:p>
          <a:p>
            <a:pPr rtl="1" algn="r" indent="0" marL="0">
              <a:lnSpc>
                <a:spcPts val="1800"/>
              </a:lnSpc>
              <a:buNone/>
            </a:pPr>
            <a:r>
              <a:rPr lang="en-US" sz="1100" dirty="0">
                <a:solidFill>
                  <a:srgbClr val="E8C66E"/>
                </a:solidFill>
                <a:latin typeface="Tajawal" pitchFamily="34" charset="0"/>
                <a:ea typeface="Tajawal" pitchFamily="34" charset="-122"/>
                <a:cs typeface="Tajawal" pitchFamily="34" charset="-120"/>
              </a:rPr>
              <a:t>تحصل على استراتيجيات ضغط مختلفة وفق</a:t>
            </a:r>
            <a:endParaRPr lang="en-US" sz="1100" dirty="0"/>
          </a:p>
          <a:p>
            <a:pPr rtl="1" algn="r" indent="0" marL="0">
              <a:lnSpc>
                <a:spcPts val="1800"/>
              </a:lnSpc>
              <a:buNone/>
            </a:pPr>
            <a:r>
              <a:rPr lang="en-US" sz="1100" dirty="0">
                <a:solidFill>
                  <a:srgbClr val="E8C66E"/>
                </a:solidFill>
                <a:latin typeface="Tajawal" pitchFamily="34" charset="0"/>
                <a:ea typeface="Tajawal" pitchFamily="34" charset="-122"/>
                <a:cs typeface="Tajawal" pitchFamily="34" charset="-120"/>
              </a:rPr>
              <a:t>كثافتها المعلوماتية. مستحيل في الترانسفورمر.</a:t>
            </a:r>
            <a:endParaRPr lang="en-US" sz="1100" dirty="0"/>
          </a:p>
        </p:txBody>
      </p:sp>
      <p:sp>
        <p:nvSpPr>
          <p:cNvPr id="14" name="Shape 12"/>
          <p:cNvSpPr/>
          <p:nvPr/>
        </p:nvSpPr>
        <p:spPr>
          <a:xfrm>
            <a:off x="182880" y="2651760"/>
            <a:ext cx="3611880" cy="3383280"/>
          </a:xfrm>
          <a:prstGeom prst="roundRect">
            <a:avLst>
              <a:gd name="adj" fmla="val 2162"/>
            </a:avLst>
          </a:prstGeom>
          <a:solidFill>
            <a:srgbClr val="0A1B2F"/>
          </a:solidFill>
          <a:ln w="6350">
            <a:solidFill>
              <a:srgbClr val="C49A2B"/>
            </a:solidFill>
            <a:prstDash val="solid"/>
          </a:ln>
        </p:spPr>
      </p:sp>
      <p:sp>
        <p:nvSpPr>
          <p:cNvPr id="15" name="Text 13"/>
          <p:cNvSpPr/>
          <p:nvPr/>
        </p:nvSpPr>
        <p:spPr>
          <a:xfrm>
            <a:off x="457200" y="2834640"/>
            <a:ext cx="914400" cy="457200"/>
          </a:xfrm>
          <a:prstGeom prst="rect">
            <a:avLst/>
          </a:prstGeom>
          <a:noFill/>
          <a:ln/>
        </p:spPr>
        <p:txBody>
          <a:bodyPr wrap="square" lIns="0" tIns="0" rIns="0" bIns="0" rtlCol="0" anchor="ctr"/>
          <a:lstStyle/>
          <a:p>
            <a:pPr algn="l" indent="0" marL="0">
              <a:buNone/>
            </a:pPr>
            <a:r>
              <a:rPr lang="en-US" sz="1400" b="1" dirty="0">
                <a:solidFill>
                  <a:srgbClr val="C49A2B"/>
                </a:solidFill>
                <a:latin typeface="Calibri" pitchFamily="34" charset="0"/>
                <a:ea typeface="Calibri" pitchFamily="34" charset="-122"/>
                <a:cs typeface="Calibri" pitchFamily="34" charset="-120"/>
              </a:rPr>
              <a:t>03</a:t>
            </a:r>
            <a:endParaRPr lang="en-US" sz="1400" dirty="0"/>
          </a:p>
        </p:txBody>
      </p:sp>
      <p:sp>
        <p:nvSpPr>
          <p:cNvPr id="16" name="Text 14"/>
          <p:cNvSpPr/>
          <p:nvPr/>
        </p:nvSpPr>
        <p:spPr>
          <a:xfrm>
            <a:off x="457200" y="3383280"/>
            <a:ext cx="3108960" cy="1005840"/>
          </a:xfrm>
          <a:prstGeom prst="rect">
            <a:avLst/>
          </a:prstGeom>
          <a:noFill/>
          <a:ln/>
        </p:spPr>
        <p:txBody>
          <a:bodyPr wrap="square" lIns="0" tIns="0" rIns="0" bIns="0" rtlCol="0" anchor="ctr"/>
          <a:lstStyle/>
          <a:p>
            <a:pPr rtl="1" algn="r" indent="0" marL="0">
              <a:lnSpc>
                <a:spcPts val="2400"/>
              </a:lnSpc>
              <a:buNone/>
            </a:pPr>
            <a:r>
              <a:rPr lang="en-US" sz="1600" b="1" dirty="0">
                <a:solidFill>
                  <a:srgbClr val="FFFFFF"/>
                </a:solidFill>
                <a:latin typeface="Tajawal" pitchFamily="34" charset="0"/>
                <a:ea typeface="Tajawal" pitchFamily="34" charset="-122"/>
                <a:cs typeface="Tajawal" pitchFamily="34" charset="-120"/>
              </a:rPr>
              <a:t>استرجاع دلالي جيوديزي</a:t>
            </a:r>
            <a:endParaRPr lang="en-US" sz="1600" dirty="0"/>
          </a:p>
        </p:txBody>
      </p:sp>
      <p:sp>
        <p:nvSpPr>
          <p:cNvPr id="17" name="Text 15"/>
          <p:cNvSpPr/>
          <p:nvPr/>
        </p:nvSpPr>
        <p:spPr>
          <a:xfrm>
            <a:off x="457200" y="4434840"/>
            <a:ext cx="3108960" cy="1554480"/>
          </a:xfrm>
          <a:prstGeom prst="rect">
            <a:avLst/>
          </a:prstGeom>
          <a:noFill/>
          <a:ln/>
        </p:spPr>
        <p:txBody>
          <a:bodyPr wrap="square" lIns="0" tIns="0" rIns="0" bIns="0" rtlCol="0" anchor="ctr"/>
          <a:lstStyle/>
          <a:p>
            <a:pPr rtl="1" algn="r" indent="0" marL="0">
              <a:lnSpc>
                <a:spcPts val="1800"/>
              </a:lnSpc>
              <a:buNone/>
            </a:pPr>
            <a:r>
              <a:rPr lang="en-US" sz="1100" dirty="0">
                <a:solidFill>
                  <a:srgbClr val="E8C66E"/>
                </a:solidFill>
                <a:latin typeface="Tajawal" pitchFamily="34" charset="0"/>
                <a:ea typeface="Tajawal" pitchFamily="34" charset="-122"/>
                <a:cs typeface="Tajawal" pitchFamily="34" charset="-120"/>
              </a:rPr>
              <a:t>فك الضغط يتبع أقصر مسار في الفضاء الدلالي</a:t>
            </a:r>
            <a:endParaRPr lang="en-US" sz="1100" dirty="0"/>
          </a:p>
          <a:p>
            <a:pPr rtl="1" algn="r" indent="0" marL="0">
              <a:lnSpc>
                <a:spcPts val="1800"/>
              </a:lnSpc>
              <a:buNone/>
            </a:pPr>
            <a:r>
              <a:rPr lang="en-US" sz="1100" dirty="0">
                <a:solidFill>
                  <a:srgbClr val="E8C66E"/>
                </a:solidFill>
                <a:latin typeface="Tajawal" pitchFamily="34" charset="0"/>
                <a:ea typeface="Tajawal" pitchFamily="34" charset="-122"/>
                <a:cs typeface="Tajawal" pitchFamily="34" charset="-120"/>
              </a:rPr>
              <a:t>بدلاً من المسح التسلسلي. متماشٍ مع الذاكرة</a:t>
            </a:r>
            <a:endParaRPr lang="en-US" sz="1100" dirty="0"/>
          </a:p>
          <a:p>
            <a:pPr rtl="1" algn="r" indent="0" marL="0">
              <a:lnSpc>
                <a:spcPts val="1800"/>
              </a:lnSpc>
              <a:buNone/>
            </a:pPr>
            <a:r>
              <a:rPr lang="en-US" sz="1100" dirty="0">
                <a:solidFill>
                  <a:srgbClr val="E8C66E"/>
                </a:solidFill>
                <a:latin typeface="Tajawal" pitchFamily="34" charset="0"/>
                <a:ea typeface="Tajawal" pitchFamily="34" charset="-122"/>
                <a:cs typeface="Tajawal" pitchFamily="34" charset="-120"/>
              </a:rPr>
              <a:t>الترابطية وبحوسبة محدودة لكل استعلام.</a:t>
            </a:r>
            <a:endParaRPr lang="en-US" sz="1100" dirty="0"/>
          </a:p>
        </p:txBody>
      </p:sp>
      <p:sp>
        <p:nvSpPr>
          <p:cNvPr id="18" name="Text 16"/>
          <p:cNvSpPr/>
          <p:nvPr/>
        </p:nvSpPr>
        <p:spPr>
          <a:xfrm>
            <a:off x="365760" y="6492240"/>
            <a:ext cx="3657600" cy="274320"/>
          </a:xfrm>
          <a:prstGeom prst="rect">
            <a:avLst/>
          </a:prstGeom>
          <a:noFill/>
          <a:ln/>
        </p:spPr>
        <p:txBody>
          <a:bodyPr wrap="square" lIns="0" tIns="0" rIns="0" bIns="0" rtlCol="0" anchor="ctr"/>
          <a:lstStyle/>
          <a:p>
            <a:pPr rtl="1" algn="l" indent="0" marL="0">
              <a:buNone/>
            </a:pPr>
            <a:r>
              <a:rPr lang="en-US" sz="800" dirty="0">
                <a:solidFill>
                  <a:srgbClr val="8A96A7"/>
                </a:solidFill>
                <a:latin typeface="Tajawal" pitchFamily="34" charset="0"/>
                <a:ea typeface="Tajawal" pitchFamily="34" charset="-122"/>
                <a:cs typeface="Tajawal" pitchFamily="34" charset="-120"/>
              </a:rPr>
              <a:t>ARKANE AI · سرّي</a:t>
            </a:r>
            <a:endParaRPr lang="en-US" sz="800" dirty="0"/>
          </a:p>
        </p:txBody>
      </p:sp>
      <p:sp>
        <p:nvSpPr>
          <p:cNvPr id="19" name="Text 17"/>
          <p:cNvSpPr/>
          <p:nvPr/>
        </p:nvSpPr>
        <p:spPr>
          <a:xfrm>
            <a:off x="11430000" y="6492240"/>
            <a:ext cx="548640" cy="274320"/>
          </a:xfrm>
          <a:prstGeom prst="rect">
            <a:avLst/>
          </a:prstGeom>
          <a:noFill/>
          <a:ln/>
        </p:spPr>
        <p:txBody>
          <a:bodyPr wrap="square" lIns="0" tIns="0" rIns="0" bIns="0" rtlCol="0" anchor="ctr"/>
          <a:lstStyle/>
          <a:p>
            <a:pPr algn="r" indent="0" marL="0">
              <a:buNone/>
            </a:pPr>
            <a:r>
              <a:rPr lang="en-US" sz="800" dirty="0">
                <a:solidFill>
                  <a:srgbClr val="8A96A7"/>
                </a:solidFill>
                <a:latin typeface="Calibri" pitchFamily="34" charset="0"/>
                <a:ea typeface="Calibri" pitchFamily="34" charset="-122"/>
                <a:cs typeface="Calibri" pitchFamily="34" charset="-120"/>
              </a:rPr>
              <a:t>5 / 18</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47120" y="365760"/>
            <a:ext cx="640080" cy="365760"/>
          </a:xfrm>
          <a:prstGeom prst="rect">
            <a:avLst/>
          </a:prstGeom>
          <a:noFill/>
          <a:ln/>
        </p:spPr>
        <p:txBody>
          <a:bodyPr wrap="square" lIns="0" tIns="0" rIns="0" bIns="0" rtlCol="0" anchor="ctr"/>
          <a:lstStyle/>
          <a:p>
            <a:pPr algn="r" indent="0" marL="0">
              <a:buNone/>
            </a:pPr>
            <a:r>
              <a:rPr lang="en-US" sz="1400" b="1" dirty="0">
                <a:solidFill>
                  <a:srgbClr val="C49A2B"/>
                </a:solidFill>
                <a:latin typeface="Calibri" pitchFamily="34" charset="0"/>
                <a:ea typeface="Calibri" pitchFamily="34" charset="-122"/>
                <a:cs typeface="Calibri" pitchFamily="34" charset="-120"/>
              </a:rPr>
              <a:t>05</a:t>
            </a:r>
            <a:endParaRPr lang="en-US" sz="1400" dirty="0"/>
          </a:p>
        </p:txBody>
      </p:sp>
      <p:sp>
        <p:nvSpPr>
          <p:cNvPr id="3" name="Text 1"/>
          <p:cNvSpPr/>
          <p:nvPr/>
        </p:nvSpPr>
        <p:spPr>
          <a:xfrm>
            <a:off x="457200" y="685800"/>
            <a:ext cx="11247120" cy="731520"/>
          </a:xfrm>
          <a:prstGeom prst="rect">
            <a:avLst/>
          </a:prstGeom>
          <a:noFill/>
          <a:ln/>
        </p:spPr>
        <p:txBody>
          <a:bodyPr wrap="square" lIns="0" tIns="0" rIns="0" bIns="0" rtlCol="0" anchor="ctr"/>
          <a:lstStyle/>
          <a:p>
            <a:pPr rtl="1" algn="r" indent="0" marL="0">
              <a:buNone/>
            </a:pPr>
            <a:r>
              <a:rPr lang="en-US" sz="3600" b="1" dirty="0">
                <a:solidFill>
                  <a:srgbClr val="0F2745"/>
                </a:solidFill>
                <a:latin typeface="Tajawal" pitchFamily="34" charset="0"/>
                <a:ea typeface="Tajawal" pitchFamily="34" charset="-122"/>
                <a:cs typeface="Tajawal" pitchFamily="34" charset="-120"/>
              </a:rPr>
              <a:t>كيف تعمل: المكوّنات الأربعة</a:t>
            </a:r>
            <a:endParaRPr lang="en-US" sz="3600" dirty="0"/>
          </a:p>
        </p:txBody>
      </p:sp>
      <p:sp>
        <p:nvSpPr>
          <p:cNvPr id="4" name="Shape 2"/>
          <p:cNvSpPr/>
          <p:nvPr/>
        </p:nvSpPr>
        <p:spPr>
          <a:xfrm>
            <a:off x="10789920" y="1417320"/>
            <a:ext cx="914400" cy="45720"/>
          </a:xfrm>
          <a:prstGeom prst="rect">
            <a:avLst/>
          </a:prstGeom>
          <a:solidFill>
            <a:srgbClr val="C49A2B"/>
          </a:solidFill>
          <a:ln/>
        </p:spPr>
      </p:sp>
      <p:sp>
        <p:nvSpPr>
          <p:cNvPr id="5" name="Shape 3"/>
          <p:cNvSpPr/>
          <p:nvPr/>
        </p:nvSpPr>
        <p:spPr>
          <a:xfrm>
            <a:off x="457200" y="1828800"/>
            <a:ext cx="11247120" cy="868680"/>
          </a:xfrm>
          <a:prstGeom prst="roundRect">
            <a:avLst>
              <a:gd name="adj" fmla="val 5263"/>
            </a:avLst>
          </a:prstGeom>
          <a:solidFill>
            <a:srgbClr val="F4F6F8"/>
          </a:solidFill>
          <a:ln w="6350">
            <a:solidFill>
              <a:srgbClr val="DEE3EA"/>
            </a:solidFill>
            <a:prstDash val="solid"/>
          </a:ln>
        </p:spPr>
      </p:sp>
      <p:sp>
        <p:nvSpPr>
          <p:cNvPr id="6" name="Shape 4"/>
          <p:cNvSpPr/>
          <p:nvPr/>
        </p:nvSpPr>
        <p:spPr>
          <a:xfrm>
            <a:off x="10927080" y="2011680"/>
            <a:ext cx="502920" cy="502920"/>
          </a:xfrm>
          <a:prstGeom prst="ellipse">
            <a:avLst/>
          </a:prstGeom>
          <a:solidFill>
            <a:srgbClr val="0F2745"/>
          </a:solidFill>
          <a:ln/>
        </p:spPr>
      </p:sp>
      <p:sp>
        <p:nvSpPr>
          <p:cNvPr id="7" name="Text 5"/>
          <p:cNvSpPr/>
          <p:nvPr/>
        </p:nvSpPr>
        <p:spPr>
          <a:xfrm>
            <a:off x="10927080" y="20116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640080" y="1901952"/>
            <a:ext cx="10149840" cy="384048"/>
          </a:xfrm>
          <a:prstGeom prst="rect">
            <a:avLst/>
          </a:prstGeom>
          <a:noFill/>
          <a:ln/>
        </p:spPr>
        <p:txBody>
          <a:bodyPr wrap="square" lIns="0" tIns="0" rIns="0" bIns="0" rtlCol="0" anchor="ctr"/>
          <a:lstStyle/>
          <a:p>
            <a:pPr rtl="1" algn="r" indent="0" marL="0">
              <a:buNone/>
            </a:pPr>
            <a:r>
              <a:rPr lang="en-US" sz="1500" b="1" dirty="0">
                <a:solidFill>
                  <a:srgbClr val="0F2745"/>
                </a:solidFill>
                <a:latin typeface="Tajawal" pitchFamily="34" charset="0"/>
                <a:ea typeface="Tajawal" pitchFamily="34" charset="-122"/>
                <a:cs typeface="Tajawal" pitchFamily="34" charset="-120"/>
              </a:rPr>
              <a:t>المُرمِّز الصرفي القبلي (MPE)</a:t>
            </a:r>
            <a:endParaRPr lang="en-US" sz="1500" dirty="0"/>
          </a:p>
        </p:txBody>
      </p:sp>
      <p:sp>
        <p:nvSpPr>
          <p:cNvPr id="9" name="Text 7"/>
          <p:cNvSpPr/>
          <p:nvPr/>
        </p:nvSpPr>
        <p:spPr>
          <a:xfrm>
            <a:off x="640080" y="2286000"/>
            <a:ext cx="10149840" cy="365760"/>
          </a:xfrm>
          <a:prstGeom prst="rect">
            <a:avLst/>
          </a:prstGeom>
          <a:noFill/>
          <a:ln/>
        </p:spPr>
        <p:txBody>
          <a:bodyPr wrap="square" lIns="0" tIns="0" rIns="0" bIns="0" rtlCol="0" anchor="ctr"/>
          <a:lstStyle/>
          <a:p>
            <a:pPr rtl="1" algn="r" indent="0" marL="0">
              <a:buNone/>
            </a:pPr>
            <a:r>
              <a:rPr lang="en-US" sz="1100" dirty="0">
                <a:solidFill>
                  <a:srgbClr val="3D4A5C"/>
                </a:solidFill>
                <a:latin typeface="Tajawal" pitchFamily="34" charset="0"/>
                <a:ea typeface="Tajawal" pitchFamily="34" charset="-122"/>
                <a:cs typeface="Tajawal" pitchFamily="34" charset="-120"/>
              </a:rPr>
              <a:t>ثلاثة تدفقات تضمين متوازية لكل قطعة: جذر · وزن · سطح</a:t>
            </a:r>
            <a:endParaRPr lang="en-US" sz="1100" dirty="0"/>
          </a:p>
        </p:txBody>
      </p:sp>
      <p:sp>
        <p:nvSpPr>
          <p:cNvPr id="10" name="Shape 8"/>
          <p:cNvSpPr/>
          <p:nvPr/>
        </p:nvSpPr>
        <p:spPr>
          <a:xfrm>
            <a:off x="457200" y="2834640"/>
            <a:ext cx="11247120" cy="868680"/>
          </a:xfrm>
          <a:prstGeom prst="roundRect">
            <a:avLst>
              <a:gd name="adj" fmla="val 5263"/>
            </a:avLst>
          </a:prstGeom>
          <a:solidFill>
            <a:srgbClr val="F4F6F8"/>
          </a:solidFill>
          <a:ln w="6350">
            <a:solidFill>
              <a:srgbClr val="DEE3EA"/>
            </a:solidFill>
            <a:prstDash val="solid"/>
          </a:ln>
        </p:spPr>
      </p:sp>
      <p:sp>
        <p:nvSpPr>
          <p:cNvPr id="11" name="Shape 9"/>
          <p:cNvSpPr/>
          <p:nvPr/>
        </p:nvSpPr>
        <p:spPr>
          <a:xfrm>
            <a:off x="10927080" y="3017520"/>
            <a:ext cx="502920" cy="502920"/>
          </a:xfrm>
          <a:prstGeom prst="ellipse">
            <a:avLst/>
          </a:prstGeom>
          <a:solidFill>
            <a:srgbClr val="1F8A98"/>
          </a:solidFill>
          <a:ln/>
        </p:spPr>
      </p:sp>
      <p:sp>
        <p:nvSpPr>
          <p:cNvPr id="12" name="Text 10"/>
          <p:cNvSpPr/>
          <p:nvPr/>
        </p:nvSpPr>
        <p:spPr>
          <a:xfrm>
            <a:off x="10927080" y="30175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640080" y="2907792"/>
            <a:ext cx="10149840" cy="384048"/>
          </a:xfrm>
          <a:prstGeom prst="rect">
            <a:avLst/>
          </a:prstGeom>
          <a:noFill/>
          <a:ln/>
        </p:spPr>
        <p:txBody>
          <a:bodyPr wrap="square" lIns="0" tIns="0" rIns="0" bIns="0" rtlCol="0" anchor="ctr"/>
          <a:lstStyle/>
          <a:p>
            <a:pPr rtl="1" algn="r" indent="0" marL="0">
              <a:buNone/>
            </a:pPr>
            <a:r>
              <a:rPr lang="en-US" sz="1500" b="1" dirty="0">
                <a:solidFill>
                  <a:srgbClr val="0F2745"/>
                </a:solidFill>
                <a:latin typeface="Tajawal" pitchFamily="34" charset="0"/>
                <a:ea typeface="Tajawal" pitchFamily="34" charset="-122"/>
                <a:cs typeface="Tajawal" pitchFamily="34" charset="-120"/>
              </a:rPr>
              <a:t>منحنى السياق متعدّد الدقّات (MRCM)</a:t>
            </a:r>
            <a:endParaRPr lang="en-US" sz="1500" dirty="0"/>
          </a:p>
        </p:txBody>
      </p:sp>
      <p:sp>
        <p:nvSpPr>
          <p:cNvPr id="14" name="Text 12"/>
          <p:cNvSpPr/>
          <p:nvPr/>
        </p:nvSpPr>
        <p:spPr>
          <a:xfrm>
            <a:off x="640080" y="3291840"/>
            <a:ext cx="10149840" cy="365760"/>
          </a:xfrm>
          <a:prstGeom prst="rect">
            <a:avLst/>
          </a:prstGeom>
          <a:noFill/>
          <a:ln/>
        </p:spPr>
        <p:txBody>
          <a:bodyPr wrap="square" lIns="0" tIns="0" rIns="0" bIns="0" rtlCol="0" anchor="ctr"/>
          <a:lstStyle/>
          <a:p>
            <a:pPr rtl="1" algn="r" indent="0" marL="0">
              <a:buNone/>
            </a:pPr>
            <a:r>
              <a:rPr lang="en-US" sz="1100" dirty="0">
                <a:solidFill>
                  <a:srgbClr val="3D4A5C"/>
                </a:solidFill>
                <a:latin typeface="Tajawal" pitchFamily="34" charset="0"/>
                <a:ea typeface="Tajawal" pitchFamily="34" charset="-122"/>
                <a:cs typeface="Tajawal" pitchFamily="34" charset="-120"/>
              </a:rPr>
              <a:t>الطبقة 0: حديث كامل الدقّة  ·  الطبقة 1: عناقيد مضغوطة  ·  الطبقة 2: رسم بياني طوبولوجي</a:t>
            </a:r>
            <a:endParaRPr lang="en-US" sz="1100" dirty="0"/>
          </a:p>
        </p:txBody>
      </p:sp>
      <p:sp>
        <p:nvSpPr>
          <p:cNvPr id="15" name="Shape 13"/>
          <p:cNvSpPr/>
          <p:nvPr/>
        </p:nvSpPr>
        <p:spPr>
          <a:xfrm>
            <a:off x="457200" y="3840480"/>
            <a:ext cx="11247120" cy="868680"/>
          </a:xfrm>
          <a:prstGeom prst="roundRect">
            <a:avLst>
              <a:gd name="adj" fmla="val 5263"/>
            </a:avLst>
          </a:prstGeom>
          <a:solidFill>
            <a:srgbClr val="F4F6F8"/>
          </a:solidFill>
          <a:ln w="6350">
            <a:solidFill>
              <a:srgbClr val="DEE3EA"/>
            </a:solidFill>
            <a:prstDash val="solid"/>
          </a:ln>
        </p:spPr>
      </p:sp>
      <p:sp>
        <p:nvSpPr>
          <p:cNvPr id="16" name="Shape 14"/>
          <p:cNvSpPr/>
          <p:nvPr/>
        </p:nvSpPr>
        <p:spPr>
          <a:xfrm>
            <a:off x="10927080" y="4023360"/>
            <a:ext cx="502920" cy="502920"/>
          </a:xfrm>
          <a:prstGeom prst="ellipse">
            <a:avLst/>
          </a:prstGeom>
          <a:solidFill>
            <a:srgbClr val="C49A2B"/>
          </a:solidFill>
          <a:ln/>
        </p:spPr>
      </p:sp>
      <p:sp>
        <p:nvSpPr>
          <p:cNvPr id="17" name="Text 15"/>
          <p:cNvSpPr/>
          <p:nvPr/>
        </p:nvSpPr>
        <p:spPr>
          <a:xfrm>
            <a:off x="10927080" y="40233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640080" y="3913632"/>
            <a:ext cx="10149840" cy="384048"/>
          </a:xfrm>
          <a:prstGeom prst="rect">
            <a:avLst/>
          </a:prstGeom>
          <a:noFill/>
          <a:ln/>
        </p:spPr>
        <p:txBody>
          <a:bodyPr wrap="square" lIns="0" tIns="0" rIns="0" bIns="0" rtlCol="0" anchor="ctr"/>
          <a:lstStyle/>
          <a:p>
            <a:pPr rtl="1" algn="r" indent="0" marL="0">
              <a:buNone/>
            </a:pPr>
            <a:r>
              <a:rPr lang="en-US" sz="1500" b="1" dirty="0">
                <a:solidFill>
                  <a:srgbClr val="0F2745"/>
                </a:solidFill>
                <a:latin typeface="Tajawal" pitchFamily="34" charset="0"/>
                <a:ea typeface="Tajawal" pitchFamily="34" charset="-122"/>
                <a:cs typeface="Tajawal" pitchFamily="34" charset="-120"/>
              </a:rPr>
              <a:t>مُشغِّل الاسترجاع الجيوديزي (GRO)</a:t>
            </a:r>
            <a:endParaRPr lang="en-US" sz="1500" dirty="0"/>
          </a:p>
        </p:txBody>
      </p:sp>
      <p:sp>
        <p:nvSpPr>
          <p:cNvPr id="19" name="Text 17"/>
          <p:cNvSpPr/>
          <p:nvPr/>
        </p:nvSpPr>
        <p:spPr>
          <a:xfrm>
            <a:off x="640080" y="4297680"/>
            <a:ext cx="10149840" cy="365760"/>
          </a:xfrm>
          <a:prstGeom prst="rect">
            <a:avLst/>
          </a:prstGeom>
          <a:noFill/>
          <a:ln/>
        </p:spPr>
        <p:txBody>
          <a:bodyPr wrap="square" lIns="0" tIns="0" rIns="0" bIns="0" rtlCol="0" anchor="ctr"/>
          <a:lstStyle/>
          <a:p>
            <a:pPr rtl="1" algn="r" indent="0" marL="0">
              <a:buNone/>
            </a:pPr>
            <a:r>
              <a:rPr lang="en-US" sz="1100" dirty="0">
                <a:solidFill>
                  <a:srgbClr val="3D4A5C"/>
                </a:solidFill>
                <a:latin typeface="Tajawal" pitchFamily="34" charset="0"/>
                <a:ea typeface="Tajawal" pitchFamily="34" charset="-122"/>
                <a:cs typeface="Tajawal" pitchFamily="34" charset="-120"/>
              </a:rPr>
              <a:t>أقصر مسار دلالي عبر الطوبولوجيا · توسّع انتقائي للعناقيد · حوسبة محدودة</a:t>
            </a:r>
            <a:endParaRPr lang="en-US" sz="1100" dirty="0"/>
          </a:p>
        </p:txBody>
      </p:sp>
      <p:sp>
        <p:nvSpPr>
          <p:cNvPr id="20" name="Shape 18"/>
          <p:cNvSpPr/>
          <p:nvPr/>
        </p:nvSpPr>
        <p:spPr>
          <a:xfrm>
            <a:off x="457200" y="4846320"/>
            <a:ext cx="11247120" cy="868680"/>
          </a:xfrm>
          <a:prstGeom prst="roundRect">
            <a:avLst>
              <a:gd name="adj" fmla="val 5263"/>
            </a:avLst>
          </a:prstGeom>
          <a:solidFill>
            <a:srgbClr val="F4F6F8"/>
          </a:solidFill>
          <a:ln w="6350">
            <a:solidFill>
              <a:srgbClr val="DEE3EA"/>
            </a:solidFill>
            <a:prstDash val="solid"/>
          </a:ln>
        </p:spPr>
      </p:sp>
      <p:sp>
        <p:nvSpPr>
          <p:cNvPr id="21" name="Shape 19"/>
          <p:cNvSpPr/>
          <p:nvPr/>
        </p:nvSpPr>
        <p:spPr>
          <a:xfrm>
            <a:off x="10927080" y="5029200"/>
            <a:ext cx="502920" cy="502920"/>
          </a:xfrm>
          <a:prstGeom prst="ellipse">
            <a:avLst/>
          </a:prstGeom>
          <a:solidFill>
            <a:srgbClr val="1A2330"/>
          </a:solidFill>
          <a:ln/>
        </p:spPr>
      </p:sp>
      <p:sp>
        <p:nvSpPr>
          <p:cNvPr id="22" name="Text 20"/>
          <p:cNvSpPr/>
          <p:nvPr/>
        </p:nvSpPr>
        <p:spPr>
          <a:xfrm>
            <a:off x="10927080" y="5029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640080" y="4919472"/>
            <a:ext cx="10149840" cy="384048"/>
          </a:xfrm>
          <a:prstGeom prst="rect">
            <a:avLst/>
          </a:prstGeom>
          <a:noFill/>
          <a:ln/>
        </p:spPr>
        <p:txBody>
          <a:bodyPr wrap="square" lIns="0" tIns="0" rIns="0" bIns="0" rtlCol="0" anchor="ctr"/>
          <a:lstStyle/>
          <a:p>
            <a:pPr rtl="1" algn="r" indent="0" marL="0">
              <a:buNone/>
            </a:pPr>
            <a:r>
              <a:rPr lang="en-US" sz="1500" b="1" dirty="0">
                <a:solidFill>
                  <a:srgbClr val="0F2745"/>
                </a:solidFill>
                <a:latin typeface="Tajawal" pitchFamily="34" charset="0"/>
                <a:ea typeface="Tajawal" pitchFamily="34" charset="-122"/>
                <a:cs typeface="Tajawal" pitchFamily="34" charset="-120"/>
              </a:rPr>
              <a:t>متحكّم الضغط التكيّفي (ACC)</a:t>
            </a:r>
            <a:endParaRPr lang="en-US" sz="1500" dirty="0"/>
          </a:p>
        </p:txBody>
      </p:sp>
      <p:sp>
        <p:nvSpPr>
          <p:cNvPr id="24" name="Text 22"/>
          <p:cNvSpPr/>
          <p:nvPr/>
        </p:nvSpPr>
        <p:spPr>
          <a:xfrm>
            <a:off x="640080" y="5303520"/>
            <a:ext cx="10149840" cy="365760"/>
          </a:xfrm>
          <a:prstGeom prst="rect">
            <a:avLst/>
          </a:prstGeom>
          <a:noFill/>
          <a:ln/>
        </p:spPr>
        <p:txBody>
          <a:bodyPr wrap="square" lIns="0" tIns="0" rIns="0" bIns="0" rtlCol="0" anchor="ctr"/>
          <a:lstStyle/>
          <a:p>
            <a:pPr rtl="1" algn="r" indent="0" marL="0">
              <a:buNone/>
            </a:pPr>
            <a:r>
              <a:rPr lang="en-US" sz="1100" dirty="0">
                <a:solidFill>
                  <a:srgbClr val="3D4A5C"/>
                </a:solidFill>
                <a:latin typeface="Tajawal" pitchFamily="34" charset="0"/>
                <a:ea typeface="Tajawal" pitchFamily="34" charset="-122"/>
                <a:cs typeface="Tajawal" pitchFamily="34" charset="-120"/>
              </a:rPr>
              <a:t>شبكة سياسة مُدرَّبة عدائياً · معدّل ضغط لكل قطعة · مُطبَّق طبقياً صرفياً</a:t>
            </a:r>
            <a:endParaRPr lang="en-US" sz="1100" dirty="0"/>
          </a:p>
        </p:txBody>
      </p:sp>
      <p:sp>
        <p:nvSpPr>
          <p:cNvPr id="25" name="Text 23"/>
          <p:cNvSpPr/>
          <p:nvPr/>
        </p:nvSpPr>
        <p:spPr>
          <a:xfrm>
            <a:off x="457200" y="6035040"/>
            <a:ext cx="11247120" cy="320040"/>
          </a:xfrm>
          <a:prstGeom prst="rect">
            <a:avLst/>
          </a:prstGeom>
          <a:noFill/>
          <a:ln/>
        </p:spPr>
        <p:txBody>
          <a:bodyPr wrap="square" lIns="0" tIns="0" rIns="0" bIns="0" rtlCol="0" anchor="ctr"/>
          <a:lstStyle/>
          <a:p>
            <a:pPr rtl="1" algn="r" indent="0" marL="0">
              <a:buNone/>
            </a:pPr>
            <a:r>
              <a:rPr lang="en-US" sz="1300" b="1" i="1" dirty="0">
                <a:solidFill>
                  <a:srgbClr val="C49A2B"/>
                </a:solidFill>
                <a:latin typeface="Tajawal" pitchFamily="34" charset="0"/>
                <a:ea typeface="Tajawal" pitchFamily="34" charset="-122"/>
                <a:cs typeface="Tajawal" pitchFamily="34" charset="-120"/>
              </a:rPr>
              <a:t>كل طبقة مبتكرة باستقلالية. المعمارية هي تركيبها.</a:t>
            </a:r>
            <a:endParaRPr lang="en-US" sz="1300" dirty="0"/>
          </a:p>
        </p:txBody>
      </p:sp>
      <p:sp>
        <p:nvSpPr>
          <p:cNvPr id="26" name="Text 24"/>
          <p:cNvSpPr/>
          <p:nvPr/>
        </p:nvSpPr>
        <p:spPr>
          <a:xfrm>
            <a:off x="365760" y="6492240"/>
            <a:ext cx="3657600" cy="274320"/>
          </a:xfrm>
          <a:prstGeom prst="rect">
            <a:avLst/>
          </a:prstGeom>
          <a:noFill/>
          <a:ln/>
        </p:spPr>
        <p:txBody>
          <a:bodyPr wrap="square" lIns="0" tIns="0" rIns="0" bIns="0" rtlCol="0" anchor="ctr"/>
          <a:lstStyle/>
          <a:p>
            <a:pPr rtl="1" algn="l" indent="0" marL="0">
              <a:buNone/>
            </a:pPr>
            <a:r>
              <a:rPr lang="en-US" sz="800" dirty="0">
                <a:solidFill>
                  <a:srgbClr val="8A96A7"/>
                </a:solidFill>
                <a:latin typeface="Tajawal" pitchFamily="34" charset="0"/>
                <a:ea typeface="Tajawal" pitchFamily="34" charset="-122"/>
                <a:cs typeface="Tajawal" pitchFamily="34" charset="-120"/>
              </a:rPr>
              <a:t>ARKANE AI · سرّي</a:t>
            </a:r>
            <a:endParaRPr lang="en-US" sz="800" dirty="0"/>
          </a:p>
        </p:txBody>
      </p:sp>
      <p:sp>
        <p:nvSpPr>
          <p:cNvPr id="27" name="Text 25"/>
          <p:cNvSpPr/>
          <p:nvPr/>
        </p:nvSpPr>
        <p:spPr>
          <a:xfrm>
            <a:off x="11430000" y="6492240"/>
            <a:ext cx="548640" cy="274320"/>
          </a:xfrm>
          <a:prstGeom prst="rect">
            <a:avLst/>
          </a:prstGeom>
          <a:noFill/>
          <a:ln/>
        </p:spPr>
        <p:txBody>
          <a:bodyPr wrap="square" lIns="0" tIns="0" rIns="0" bIns="0" rtlCol="0" anchor="ctr"/>
          <a:lstStyle/>
          <a:p>
            <a:pPr algn="r" indent="0" marL="0">
              <a:buNone/>
            </a:pPr>
            <a:r>
              <a:rPr lang="en-US" sz="800" dirty="0">
                <a:solidFill>
                  <a:srgbClr val="8A96A7"/>
                </a:solidFill>
                <a:latin typeface="Calibri" pitchFamily="34" charset="0"/>
                <a:ea typeface="Calibri" pitchFamily="34" charset="-122"/>
                <a:cs typeface="Calibri" pitchFamily="34" charset="-120"/>
              </a:rPr>
              <a:t>6 / 18</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47120" y="365760"/>
            <a:ext cx="640080" cy="365760"/>
          </a:xfrm>
          <a:prstGeom prst="rect">
            <a:avLst/>
          </a:prstGeom>
          <a:noFill/>
          <a:ln/>
        </p:spPr>
        <p:txBody>
          <a:bodyPr wrap="square" lIns="0" tIns="0" rIns="0" bIns="0" rtlCol="0" anchor="ctr"/>
          <a:lstStyle/>
          <a:p>
            <a:pPr algn="r" indent="0" marL="0">
              <a:buNone/>
            </a:pPr>
            <a:r>
              <a:rPr lang="en-US" sz="1400" b="1" dirty="0">
                <a:solidFill>
                  <a:srgbClr val="C49A2B"/>
                </a:solidFill>
                <a:latin typeface="Calibri" pitchFamily="34" charset="0"/>
                <a:ea typeface="Calibri" pitchFamily="34" charset="-122"/>
                <a:cs typeface="Calibri" pitchFamily="34" charset="-120"/>
              </a:rPr>
              <a:t>06</a:t>
            </a:r>
            <a:endParaRPr lang="en-US" sz="1400" dirty="0"/>
          </a:p>
        </p:txBody>
      </p:sp>
      <p:sp>
        <p:nvSpPr>
          <p:cNvPr id="3" name="Text 1"/>
          <p:cNvSpPr/>
          <p:nvPr/>
        </p:nvSpPr>
        <p:spPr>
          <a:xfrm>
            <a:off x="457200" y="685800"/>
            <a:ext cx="11247120" cy="731520"/>
          </a:xfrm>
          <a:prstGeom prst="rect">
            <a:avLst/>
          </a:prstGeom>
          <a:noFill/>
          <a:ln/>
        </p:spPr>
        <p:txBody>
          <a:bodyPr wrap="square" lIns="0" tIns="0" rIns="0" bIns="0" rtlCol="0" anchor="ctr"/>
          <a:lstStyle/>
          <a:p>
            <a:pPr rtl="1" algn="r" indent="0" marL="0">
              <a:buNone/>
            </a:pPr>
            <a:r>
              <a:rPr lang="en-US" sz="3600" b="1" dirty="0">
                <a:solidFill>
                  <a:srgbClr val="0F2745"/>
                </a:solidFill>
                <a:latin typeface="Tajawal" pitchFamily="34" charset="0"/>
                <a:ea typeface="Tajawal" pitchFamily="34" charset="-122"/>
                <a:cs typeface="Tajawal" pitchFamily="34" charset="-120"/>
              </a:rPr>
              <a:t>لماذا نفوز</a:t>
            </a:r>
            <a:endParaRPr lang="en-US" sz="3600" dirty="0"/>
          </a:p>
        </p:txBody>
      </p:sp>
      <p:sp>
        <p:nvSpPr>
          <p:cNvPr id="4" name="Shape 2"/>
          <p:cNvSpPr/>
          <p:nvPr/>
        </p:nvSpPr>
        <p:spPr>
          <a:xfrm>
            <a:off x="10789920" y="1417320"/>
            <a:ext cx="914400" cy="45720"/>
          </a:xfrm>
          <a:prstGeom prst="rect">
            <a:avLst/>
          </a:prstGeom>
          <a:solidFill>
            <a:srgbClr val="C49A2B"/>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47120" cy="3474720"/>
        </p:xfrm>
        <a:graphic>
          <a:graphicData uri="http://schemas.openxmlformats.org/drawingml/2006/table">
            <a:tbl>
              <a:tblPr/>
              <a:tblGrid>
                <a:gridCol w="2286000"/>
                <a:gridCol w="1645920"/>
                <a:gridCol w="1920240"/>
                <a:gridCol w="1920240"/>
                <a:gridCol w="1645920"/>
                <a:gridCol w="1828800"/>
              </a:tblGrid>
              <a:tr h="502920">
                <a:tc>
                  <a:txBody>
                    <a:bodyPr/>
                    <a:lstStyle/>
                    <a:p>
                      <a:pPr rtl="1" algn="ctr" indent="0" marL="0">
                        <a:buNone/>
                      </a:pPr>
                      <a:r>
                        <a:rPr lang="en-US" sz="1100" b="1" dirty="0">
                          <a:solidFill>
                            <a:srgbClr val="FFFFFF"/>
                          </a:solidFill>
                          <a:latin typeface="Tajawal" pitchFamily="34" charset="0"/>
                          <a:ea typeface="Tajawal" pitchFamily="34" charset="-122"/>
                          <a:cs typeface="Tajawal" pitchFamily="34" charset="-120"/>
                        </a:rPr>
                        <a:t>محمي بالـ IP</a:t>
                      </a:r>
                      <a:endParaRPr lang="en-US" sz="1100" dirty="0">
                        <a:latin typeface="Tajawal" charset="0"/>
                        <a:ea typeface="Tajawal" charset="0"/>
                        <a:cs typeface="Tajawal"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0F2745"/>
                    </a:solidFill>
                  </a:tcPr>
                </a:tc>
                <a:tc>
                  <a:txBody>
                    <a:bodyPr/>
                    <a:lstStyle/>
                    <a:p>
                      <a:pPr rtl="1" algn="ctr" indent="0" marL="0">
                        <a:buNone/>
                      </a:pPr>
                      <a:r>
                        <a:rPr lang="en-US" sz="1100" b="1" dirty="0">
                          <a:solidFill>
                            <a:srgbClr val="FFFFFF"/>
                          </a:solidFill>
                          <a:latin typeface="Tajawal" pitchFamily="34" charset="0"/>
                          <a:ea typeface="Tajawal" pitchFamily="34" charset="-122"/>
                          <a:cs typeface="Tajawal" pitchFamily="34" charset="-120"/>
                        </a:rPr>
                        <a:t>نشر سيادي</a:t>
                      </a:r>
                      <a:endParaRPr lang="en-US" sz="1100" dirty="0">
                        <a:latin typeface="Tajawal" charset="0"/>
                        <a:ea typeface="Tajawal" charset="0"/>
                        <a:cs typeface="Tajawal"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0F2745"/>
                    </a:solidFill>
                  </a:tcPr>
                </a:tc>
                <a:tc>
                  <a:txBody>
                    <a:bodyPr/>
                    <a:lstStyle/>
                    <a:p>
                      <a:pPr rtl="1" algn="ctr" indent="0" marL="0">
                        <a:buNone/>
                      </a:pPr>
                      <a:r>
                        <a:rPr lang="en-US" sz="1100" b="1" dirty="0">
                          <a:solidFill>
                            <a:srgbClr val="FFFFFF"/>
                          </a:solidFill>
                          <a:latin typeface="Tajawal" pitchFamily="34" charset="0"/>
                          <a:ea typeface="Tajawal" pitchFamily="34" charset="-122"/>
                          <a:cs typeface="Tajawal" pitchFamily="34" charset="-120"/>
                        </a:rPr>
                        <a:t>مشروط بالاستعلام</a:t>
                      </a:r>
                      <a:endParaRPr lang="en-US" sz="1100" dirty="0">
                        <a:latin typeface="Tajawal" charset="0"/>
                        <a:ea typeface="Tajawal" charset="0"/>
                        <a:cs typeface="Tajawal"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0F2745"/>
                    </a:solidFill>
                  </a:tcPr>
                </a:tc>
                <a:tc>
                  <a:txBody>
                    <a:bodyPr/>
                    <a:lstStyle/>
                    <a:p>
                      <a:pPr rtl="1" algn="ctr" indent="0" marL="0">
                        <a:buNone/>
                      </a:pPr>
                      <a:r>
                        <a:rPr lang="en-US" sz="1100" b="1" dirty="0">
                          <a:solidFill>
                            <a:srgbClr val="FFFFFF"/>
                          </a:solidFill>
                          <a:latin typeface="Tajawal" pitchFamily="34" charset="0"/>
                          <a:ea typeface="Tajawal" pitchFamily="34" charset="-122"/>
                          <a:cs typeface="Tajawal" pitchFamily="34" charset="-120"/>
                        </a:rPr>
                        <a:t>سياق طويل كفؤ</a:t>
                      </a:r>
                      <a:endParaRPr lang="en-US" sz="1100" dirty="0">
                        <a:latin typeface="Tajawal" charset="0"/>
                        <a:ea typeface="Tajawal" charset="0"/>
                        <a:cs typeface="Tajawal"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0F2745"/>
                    </a:solidFill>
                  </a:tcPr>
                </a:tc>
                <a:tc>
                  <a:txBody>
                    <a:bodyPr/>
                    <a:lstStyle/>
                    <a:p>
                      <a:pPr rtl="1" algn="ctr" indent="0" marL="0">
                        <a:buNone/>
                      </a:pPr>
                      <a:r>
                        <a:rPr lang="en-US" sz="1100" b="1" dirty="0">
                          <a:solidFill>
                            <a:srgbClr val="FFFFFF"/>
                          </a:solidFill>
                          <a:latin typeface="Tajawal" pitchFamily="34" charset="0"/>
                          <a:ea typeface="Tajawal" pitchFamily="34" charset="-122"/>
                          <a:cs typeface="Tajawal" pitchFamily="34" charset="-120"/>
                        </a:rPr>
                        <a:t>عربي أصلي</a:t>
                      </a:r>
                      <a:endParaRPr lang="en-US" sz="1100" dirty="0">
                        <a:latin typeface="Tajawal" charset="0"/>
                        <a:ea typeface="Tajawal" charset="0"/>
                        <a:cs typeface="Tajawal"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0F2745"/>
                    </a:solidFill>
                  </a:tcPr>
                </a:tc>
                <a:tc>
                  <a:txBody>
                    <a:bodyPr/>
                    <a:lstStyle/>
                    <a:p>
                      <a:pPr algn="ctr" indent="0" marL="0">
                        <a:buNone/>
                      </a:pPr>
                      <a:r>
                        <a:rPr lang="en-US" sz="1100" b="1" dirty="0">
                          <a:solidFill>
                            <a:srgbClr val="FFFFFF"/>
                          </a:solidFill>
                          <a:latin typeface="Tajawal" pitchFamily="34" charset="0"/>
                          <a:ea typeface="Tajawal" pitchFamily="34" charset="-122"/>
                          <a:cs typeface="Tajawal" pitchFamily="34" charset="-120"/>
                        </a:rPr>
                        <a:t>البنية</a:t>
                      </a:r>
                      <a:endParaRPr lang="en-US" sz="1100" dirty="0">
                        <a:latin typeface="Tajawal" charset="0"/>
                        <a:ea typeface="Tajawal" charset="0"/>
                        <a:cs typeface="Tajawal"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0F2745"/>
                    </a:solidFill>
                  </a:tcPr>
                </a:tc>
              </a:tr>
              <a:tr h="502920">
                <a:tc>
                  <a:txBody>
                    <a:bodyPr/>
                    <a:lstStyle/>
                    <a:p>
                      <a:pPr algn="ctr" indent="0" marL="0">
                        <a:buNone/>
                      </a:pPr>
                      <a:r>
                        <a:rPr lang="en-US" sz="1100" b="1" dirty="0">
                          <a:solidFill>
                            <a:srgbClr val="0F274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7E0"/>
                    </a:solidFill>
                  </a:tcPr>
                </a:tc>
                <a:tc>
                  <a:txBody>
                    <a:bodyPr/>
                    <a:lstStyle/>
                    <a:p>
                      <a:pPr algn="ctr" indent="0" marL="0">
                        <a:buNone/>
                      </a:pPr>
                      <a:r>
                        <a:rPr lang="en-US" sz="1100" b="1" dirty="0">
                          <a:solidFill>
                            <a:srgbClr val="0F274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7E0"/>
                    </a:solidFill>
                  </a:tcPr>
                </a:tc>
                <a:tc>
                  <a:txBody>
                    <a:bodyPr/>
                    <a:lstStyle/>
                    <a:p>
                      <a:pPr algn="ctr" indent="0" marL="0">
                        <a:buNone/>
                      </a:pPr>
                      <a:r>
                        <a:rPr lang="en-US" sz="1100" b="1" dirty="0">
                          <a:solidFill>
                            <a:srgbClr val="0F274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7E0"/>
                    </a:solidFill>
                  </a:tcPr>
                </a:tc>
                <a:tc>
                  <a:txBody>
                    <a:bodyPr/>
                    <a:lstStyle/>
                    <a:p>
                      <a:pPr algn="ctr" indent="0" marL="0">
                        <a:buNone/>
                      </a:pPr>
                      <a:r>
                        <a:rPr lang="en-US" sz="1100" b="1" dirty="0">
                          <a:solidFill>
                            <a:srgbClr val="0F274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7E0"/>
                    </a:solidFill>
                  </a:tcPr>
                </a:tc>
                <a:tc>
                  <a:txBody>
                    <a:bodyPr/>
                    <a:lstStyle/>
                    <a:p>
                      <a:pPr algn="ctr" indent="0" marL="0">
                        <a:buNone/>
                      </a:pPr>
                      <a:r>
                        <a:rPr lang="en-US" sz="1100" b="1" dirty="0">
                          <a:solidFill>
                            <a:srgbClr val="0F274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7E0"/>
                    </a:solidFill>
                  </a:tcPr>
                </a:tc>
                <a:tc>
                  <a:txBody>
                    <a:bodyPr/>
                    <a:lstStyle/>
                    <a:p>
                      <a:pPr rtl="1" algn="ctr" indent="0" marL="0">
                        <a:buNone/>
                      </a:pPr>
                      <a:r>
                        <a:rPr lang="en-US" sz="1100" b="1" dirty="0">
                          <a:solidFill>
                            <a:srgbClr val="0F2745"/>
                          </a:solidFill>
                          <a:latin typeface="Tajawal" pitchFamily="34" charset="0"/>
                          <a:ea typeface="Tajawal" pitchFamily="34" charset="-122"/>
                          <a:cs typeface="Tajawal" pitchFamily="34" charset="-120"/>
                        </a:rPr>
                        <a:t>LCA (نحن)</a:t>
                      </a:r>
                      <a:endParaRPr lang="en-US" sz="1100" dirty="0">
                        <a:latin typeface="Tajawal" charset="0"/>
                        <a:ea typeface="Tajawal" charset="0"/>
                        <a:cs typeface="Tajawal"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7E0"/>
                    </a:solidFill>
                  </a:tcPr>
                </a:tc>
              </a:tr>
              <a:tr h="502920">
                <a:tc>
                  <a:txBody>
                    <a:bodyPr/>
                    <a:lstStyle/>
                    <a:p>
                      <a:pPr algn="ctr" indent="0" marL="0">
                        <a:buNone/>
                      </a:pPr>
                      <a:r>
                        <a:rPr lang="en-US" sz="1100" dirty="0">
                          <a:solidFill>
                            <a:srgbClr val="3D4A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C5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3D4A5C"/>
                          </a:solidFill>
                          <a:latin typeface="Calibri" pitchFamily="34" charset="0"/>
                          <a:ea typeface="Calibri" pitchFamily="34" charset="-122"/>
                          <a:cs typeface="Calibri" pitchFamily="34" charset="-120"/>
                        </a:rPr>
                        <a:t>جزئي</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1F8A9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C5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4F6F8"/>
                    </a:solidFill>
                  </a:tcPr>
                </a:tc>
                <a:tc>
                  <a:txBody>
                    <a:bodyPr/>
                    <a:lstStyle/>
                    <a:p>
                      <a:pPr rtl="1" algn="ctr" indent="0" marL="0">
                        <a:buNone/>
                      </a:pPr>
                      <a:r>
                        <a:rPr lang="en-US" sz="1100" dirty="0">
                          <a:solidFill>
                            <a:srgbClr val="3D4A5C"/>
                          </a:solidFill>
                          <a:latin typeface="Tajawal" pitchFamily="34" charset="0"/>
                          <a:ea typeface="Tajawal" pitchFamily="34" charset="-122"/>
                          <a:cs typeface="Tajawal" pitchFamily="34" charset="-120"/>
                        </a:rPr>
                        <a:t>GPT-5 / Claude / Gemini</a:t>
                      </a:r>
                      <a:endParaRPr lang="en-US" sz="1100" dirty="0">
                        <a:latin typeface="Tajawal" charset="0"/>
                        <a:ea typeface="Tajawal" charset="0"/>
                        <a:cs typeface="Tajawal"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4F6F8"/>
                    </a:solidFill>
                  </a:tcPr>
                </a:tc>
              </a:tr>
              <a:tr h="502920">
                <a:tc>
                  <a:txBody>
                    <a:bodyPr/>
                    <a:lstStyle/>
                    <a:p>
                      <a:pPr algn="ctr" indent="0" marL="0">
                        <a:buNone/>
                      </a:pPr>
                      <a:r>
                        <a:rPr lang="en-US" sz="1100" dirty="0">
                          <a:solidFill>
                            <a:srgbClr val="C5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8A9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5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5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A5C"/>
                          </a:solidFill>
                          <a:latin typeface="Calibri" pitchFamily="34" charset="0"/>
                          <a:ea typeface="Calibri" pitchFamily="34" charset="-122"/>
                          <a:cs typeface="Calibri" pitchFamily="34" charset="-120"/>
                        </a:rPr>
                        <a:t>جزئي</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FFF"/>
                    </a:solidFill>
                  </a:tcPr>
                </a:tc>
                <a:tc>
                  <a:txBody>
                    <a:bodyPr/>
                    <a:lstStyle/>
                    <a:p>
                      <a:pPr rtl="1" algn="ctr" indent="0" marL="0">
                        <a:buNone/>
                      </a:pPr>
                      <a:r>
                        <a:rPr lang="en-US" sz="1100" dirty="0">
                          <a:solidFill>
                            <a:srgbClr val="3D4A5C"/>
                          </a:solidFill>
                          <a:latin typeface="Tajawal" pitchFamily="34" charset="0"/>
                          <a:ea typeface="Tajawal" pitchFamily="34" charset="-122"/>
                          <a:cs typeface="Tajawal" pitchFamily="34" charset="-120"/>
                        </a:rPr>
                        <a:t>نماذج اللغة العربية القائمة</a:t>
                      </a:r>
                      <a:endParaRPr lang="en-US" sz="1100" dirty="0">
                        <a:latin typeface="Tajawal" charset="0"/>
                        <a:ea typeface="Tajawal" charset="0"/>
                        <a:cs typeface="Tajawal"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FFF"/>
                    </a:solidFill>
                  </a:tcPr>
                </a:tc>
              </a:tr>
              <a:tr h="502920">
                <a:tc>
                  <a:txBody>
                    <a:bodyPr/>
                    <a:lstStyle/>
                    <a:p>
                      <a:pPr algn="ctr" indent="0" marL="0">
                        <a:buNone/>
                      </a:pPr>
                      <a:r>
                        <a:rPr lang="en-US" sz="1100" dirty="0">
                          <a:solidFill>
                            <a:srgbClr val="C5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3D4A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1F8A9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1F8A9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C5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4F6F8"/>
                    </a:solidFill>
                  </a:tcPr>
                </a:tc>
                <a:tc>
                  <a:txBody>
                    <a:bodyPr/>
                    <a:lstStyle/>
                    <a:p>
                      <a:pPr rtl="1" algn="ctr" indent="0" marL="0">
                        <a:buNone/>
                      </a:pPr>
                      <a:r>
                        <a:rPr lang="en-US" sz="1100" dirty="0">
                          <a:solidFill>
                            <a:srgbClr val="3D4A5C"/>
                          </a:solidFill>
                          <a:latin typeface="Tajawal" pitchFamily="34" charset="0"/>
                          <a:ea typeface="Tajawal" pitchFamily="34" charset="-122"/>
                          <a:cs typeface="Tajawal" pitchFamily="34" charset="-120"/>
                        </a:rPr>
                        <a:t>Infini-Attention / DAST / LCIRC</a:t>
                      </a:r>
                      <a:endParaRPr lang="en-US" sz="1100" dirty="0">
                        <a:latin typeface="Tajawal" charset="0"/>
                        <a:ea typeface="Tajawal" charset="0"/>
                        <a:cs typeface="Tajawal"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4F6F8"/>
                    </a:solidFill>
                  </a:tcPr>
                </a:tc>
              </a:tr>
              <a:tr h="502920">
                <a:tc>
                  <a:txBody>
                    <a:bodyPr/>
                    <a:lstStyle/>
                    <a:p>
                      <a:pPr algn="ctr" indent="0" marL="0">
                        <a:buNone/>
                      </a:pPr>
                      <a:r>
                        <a:rPr lang="en-US" sz="1100" dirty="0">
                          <a:solidFill>
                            <a:srgbClr val="3D4A5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A5C"/>
                          </a:solidFill>
                          <a:latin typeface="Calibri" pitchFamily="34" charset="0"/>
                          <a:ea typeface="Calibri" pitchFamily="34" charset="-122"/>
                          <a:cs typeface="Calibri" pitchFamily="34" charset="-120"/>
                        </a:rPr>
                        <a:t>جزئي</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8A9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A5C"/>
                          </a:solidFill>
                          <a:latin typeface="Calibri" pitchFamily="34" charset="0"/>
                          <a:ea typeface="Calibri" pitchFamily="34" charset="-122"/>
                          <a:cs typeface="Calibri" pitchFamily="34" charset="-120"/>
                        </a:rPr>
                        <a:t>خارجي</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5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FFF"/>
                    </a:solidFill>
                  </a:tcPr>
                </a:tc>
                <a:tc>
                  <a:txBody>
                    <a:bodyPr/>
                    <a:lstStyle/>
                    <a:p>
                      <a:pPr rtl="1" algn="ctr" indent="0" marL="0">
                        <a:buNone/>
                      </a:pPr>
                      <a:r>
                        <a:rPr lang="en-US" sz="1100" dirty="0">
                          <a:solidFill>
                            <a:srgbClr val="3D4A5C"/>
                          </a:solidFill>
                          <a:latin typeface="Tajawal" pitchFamily="34" charset="0"/>
                          <a:ea typeface="Tajawal" pitchFamily="34" charset="-122"/>
                          <a:cs typeface="Tajawal" pitchFamily="34" charset="-120"/>
                        </a:rPr>
                        <a:t>RAG (Pinecone / قواعد متجهية)</a:t>
                      </a:r>
                      <a:endParaRPr lang="en-US" sz="1100" dirty="0">
                        <a:latin typeface="Tajawal" charset="0"/>
                        <a:ea typeface="Tajawal" charset="0"/>
                        <a:cs typeface="Tajawal" charset="0"/>
                      </a:endParaRPr>
                    </a:p>
                  </a:txBody>
                  <a:tcPr marL="91440" marR="91440" marT="45720" marB="45720" anchor="ctr">
                    <a:lnL w="6350" cap="flat" cmpd="sng" algn="ctr">
                      <a:solidFill>
                        <a:srgbClr val="DEE3EA"/>
                      </a:solidFill>
                      <a:prstDash val="solid"/>
                      <a:round/>
                      <a:headEnd type="none" w="med" len="med"/>
                      <a:tailEnd type="none" w="med" len="med"/>
                    </a:lnL>
                    <a:lnR w="6350" cap="flat" cmpd="sng" algn="ctr">
                      <a:solidFill>
                        <a:srgbClr val="DEE3EA"/>
                      </a:solidFill>
                      <a:prstDash val="solid"/>
                      <a:round/>
                      <a:headEnd type="none" w="med" len="med"/>
                      <a:tailEnd type="none" w="med" len="med"/>
                    </a:lnR>
                    <a:lnT w="6350" cap="flat" cmpd="sng" algn="ctr">
                      <a:solidFill>
                        <a:srgbClr val="DEE3EA"/>
                      </a:solidFill>
                      <a:prstDash val="solid"/>
                      <a:round/>
                      <a:headEnd type="none" w="med" len="med"/>
                      <a:tailEnd type="none" w="med" len="med"/>
                    </a:lnT>
                    <a:lnB w="6350" cap="flat" cmpd="sng" algn="ctr">
                      <a:solidFill>
                        <a:srgbClr val="DEE3EA"/>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5852160"/>
            <a:ext cx="11247120" cy="365760"/>
          </a:xfrm>
          <a:prstGeom prst="rect">
            <a:avLst/>
          </a:prstGeom>
          <a:noFill/>
          <a:ln/>
        </p:spPr>
        <p:txBody>
          <a:bodyPr wrap="square" lIns="0" tIns="0" rIns="0" bIns="0" rtlCol="0" anchor="ctr"/>
          <a:lstStyle/>
          <a:p>
            <a:pPr rtl="1" algn="r" indent="0" marL="0">
              <a:buNone/>
            </a:pPr>
            <a:r>
              <a:rPr lang="en-US" sz="1300" b="1" i="1" dirty="0">
                <a:solidFill>
                  <a:srgbClr val="C49A2B"/>
                </a:solidFill>
                <a:latin typeface="Tajawal" pitchFamily="34" charset="0"/>
                <a:ea typeface="Tajawal" pitchFamily="34" charset="-122"/>
                <a:cs typeface="Tajawal" pitchFamily="34" charset="-120"/>
              </a:rPr>
              <a:t>LCA هي البنية الوحيدة التي تجمع الخصائص الخمس مع ملكية فكرية تحميها.</a:t>
            </a:r>
            <a:endParaRPr lang="en-US" sz="1300" dirty="0"/>
          </a:p>
        </p:txBody>
      </p:sp>
      <p:sp>
        <p:nvSpPr>
          <p:cNvPr id="7" name="Text 4"/>
          <p:cNvSpPr/>
          <p:nvPr/>
        </p:nvSpPr>
        <p:spPr>
          <a:xfrm>
            <a:off x="365760" y="6492240"/>
            <a:ext cx="3657600" cy="274320"/>
          </a:xfrm>
          <a:prstGeom prst="rect">
            <a:avLst/>
          </a:prstGeom>
          <a:noFill/>
          <a:ln/>
        </p:spPr>
        <p:txBody>
          <a:bodyPr wrap="square" lIns="0" tIns="0" rIns="0" bIns="0" rtlCol="0" anchor="ctr"/>
          <a:lstStyle/>
          <a:p>
            <a:pPr rtl="1" algn="l" indent="0" marL="0">
              <a:buNone/>
            </a:pPr>
            <a:r>
              <a:rPr lang="en-US" sz="800" dirty="0">
                <a:solidFill>
                  <a:srgbClr val="8A96A7"/>
                </a:solidFill>
                <a:latin typeface="Tajawal" pitchFamily="34" charset="0"/>
                <a:ea typeface="Tajawal" pitchFamily="34" charset="-122"/>
                <a:cs typeface="Tajawal" pitchFamily="34" charset="-120"/>
              </a:rPr>
              <a:t>ARKANE AI · سرّي</a:t>
            </a:r>
            <a:endParaRPr lang="en-US" sz="800" dirty="0"/>
          </a:p>
        </p:txBody>
      </p:sp>
      <p:sp>
        <p:nvSpPr>
          <p:cNvPr id="8" name="Text 5"/>
          <p:cNvSpPr/>
          <p:nvPr/>
        </p:nvSpPr>
        <p:spPr>
          <a:xfrm>
            <a:off x="11430000" y="6492240"/>
            <a:ext cx="548640" cy="274320"/>
          </a:xfrm>
          <a:prstGeom prst="rect">
            <a:avLst/>
          </a:prstGeom>
          <a:noFill/>
          <a:ln/>
        </p:spPr>
        <p:txBody>
          <a:bodyPr wrap="square" lIns="0" tIns="0" rIns="0" bIns="0" rtlCol="0" anchor="ctr"/>
          <a:lstStyle/>
          <a:p>
            <a:pPr algn="r" indent="0" marL="0">
              <a:buNone/>
            </a:pPr>
            <a:r>
              <a:rPr lang="en-US" sz="800" dirty="0">
                <a:solidFill>
                  <a:srgbClr val="8A96A7"/>
                </a:solidFill>
                <a:latin typeface="Calibri" pitchFamily="34" charset="0"/>
                <a:ea typeface="Calibri" pitchFamily="34" charset="-122"/>
                <a:cs typeface="Calibri" pitchFamily="34" charset="-120"/>
              </a:rPr>
              <a:t>7 / 18</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47120" y="365760"/>
            <a:ext cx="640080" cy="365760"/>
          </a:xfrm>
          <a:prstGeom prst="rect">
            <a:avLst/>
          </a:prstGeom>
          <a:noFill/>
          <a:ln/>
        </p:spPr>
        <p:txBody>
          <a:bodyPr wrap="square" lIns="0" tIns="0" rIns="0" bIns="0" rtlCol="0" anchor="ctr"/>
          <a:lstStyle/>
          <a:p>
            <a:pPr algn="r" indent="0" marL="0">
              <a:buNone/>
            </a:pPr>
            <a:r>
              <a:rPr lang="en-US" sz="1400" b="1" dirty="0">
                <a:solidFill>
                  <a:srgbClr val="C49A2B"/>
                </a:solidFill>
                <a:latin typeface="Calibri" pitchFamily="34" charset="0"/>
                <a:ea typeface="Calibri" pitchFamily="34" charset="-122"/>
                <a:cs typeface="Calibri" pitchFamily="34" charset="-120"/>
              </a:rPr>
              <a:t>07</a:t>
            </a:r>
            <a:endParaRPr lang="en-US" sz="1400" dirty="0"/>
          </a:p>
        </p:txBody>
      </p:sp>
      <p:sp>
        <p:nvSpPr>
          <p:cNvPr id="3" name="Text 1"/>
          <p:cNvSpPr/>
          <p:nvPr/>
        </p:nvSpPr>
        <p:spPr>
          <a:xfrm>
            <a:off x="457200" y="685800"/>
            <a:ext cx="11247120" cy="731520"/>
          </a:xfrm>
          <a:prstGeom prst="rect">
            <a:avLst/>
          </a:prstGeom>
          <a:noFill/>
          <a:ln/>
        </p:spPr>
        <p:txBody>
          <a:bodyPr wrap="square" lIns="0" tIns="0" rIns="0" bIns="0" rtlCol="0" anchor="ctr"/>
          <a:lstStyle/>
          <a:p>
            <a:pPr rtl="1" algn="r" indent="0" marL="0">
              <a:buNone/>
            </a:pPr>
            <a:r>
              <a:rPr lang="en-US" sz="3600" b="1" dirty="0">
                <a:solidFill>
                  <a:srgbClr val="0F2745"/>
                </a:solidFill>
                <a:latin typeface="Tajawal" pitchFamily="34" charset="0"/>
                <a:ea typeface="Tajawal" pitchFamily="34" charset="-122"/>
                <a:cs typeface="Tajawal" pitchFamily="34" charset="-120"/>
              </a:rPr>
              <a:t>حزمة البراءات: أربعة طلبات</a:t>
            </a:r>
            <a:endParaRPr lang="en-US" sz="3600" dirty="0"/>
          </a:p>
        </p:txBody>
      </p:sp>
      <p:sp>
        <p:nvSpPr>
          <p:cNvPr id="4" name="Shape 2"/>
          <p:cNvSpPr/>
          <p:nvPr/>
        </p:nvSpPr>
        <p:spPr>
          <a:xfrm>
            <a:off x="10789920" y="1417320"/>
            <a:ext cx="914400" cy="45720"/>
          </a:xfrm>
          <a:prstGeom prst="rect">
            <a:avLst/>
          </a:prstGeom>
          <a:solidFill>
            <a:srgbClr val="C49A2B"/>
          </a:solidFill>
          <a:ln/>
        </p:spPr>
      </p:sp>
      <p:sp>
        <p:nvSpPr>
          <p:cNvPr id="5" name="Shape 3"/>
          <p:cNvSpPr/>
          <p:nvPr/>
        </p:nvSpPr>
        <p:spPr>
          <a:xfrm>
            <a:off x="6263640" y="1828800"/>
            <a:ext cx="5440680" cy="1965960"/>
          </a:xfrm>
          <a:prstGeom prst="roundRect">
            <a:avLst>
              <a:gd name="adj" fmla="val 3721"/>
            </a:avLst>
          </a:prstGeom>
          <a:solidFill>
            <a:srgbClr val="F4F6F8"/>
          </a:solidFill>
          <a:ln w="6350">
            <a:solidFill>
              <a:srgbClr val="DEE3EA"/>
            </a:solidFill>
            <a:prstDash val="solid"/>
          </a:ln>
        </p:spPr>
      </p:sp>
      <p:sp>
        <p:nvSpPr>
          <p:cNvPr id="6" name="Text 4"/>
          <p:cNvSpPr/>
          <p:nvPr/>
        </p:nvSpPr>
        <p:spPr>
          <a:xfrm>
            <a:off x="6492240" y="2011680"/>
            <a:ext cx="914400" cy="457200"/>
          </a:xfrm>
          <a:prstGeom prst="rect">
            <a:avLst/>
          </a:prstGeom>
          <a:noFill/>
          <a:ln/>
        </p:spPr>
        <p:txBody>
          <a:bodyPr wrap="square" lIns="0" tIns="0" rIns="0" bIns="0" rtlCol="0" anchor="ctr"/>
          <a:lstStyle/>
          <a:p>
            <a:pPr algn="l" indent="0" marL="0">
              <a:buNone/>
            </a:pPr>
            <a:r>
              <a:rPr lang="en-US" sz="2200" b="1" dirty="0">
                <a:solidFill>
                  <a:srgbClr val="C49A2B"/>
                </a:solidFill>
                <a:latin typeface="Calibri" pitchFamily="34" charset="0"/>
                <a:ea typeface="Calibri" pitchFamily="34" charset="-122"/>
                <a:cs typeface="Calibri" pitchFamily="34" charset="-120"/>
              </a:rPr>
              <a:t>P01</a:t>
            </a:r>
            <a:endParaRPr lang="en-US" sz="2200" dirty="0"/>
          </a:p>
        </p:txBody>
      </p:sp>
      <p:sp>
        <p:nvSpPr>
          <p:cNvPr id="7" name="Text 5"/>
          <p:cNvSpPr/>
          <p:nvPr/>
        </p:nvSpPr>
        <p:spPr>
          <a:xfrm>
            <a:off x="9464040" y="2057400"/>
            <a:ext cx="2103120" cy="365760"/>
          </a:xfrm>
          <a:prstGeom prst="rect">
            <a:avLst/>
          </a:prstGeom>
          <a:noFill/>
          <a:ln/>
        </p:spPr>
        <p:txBody>
          <a:bodyPr wrap="square" lIns="0" tIns="0" rIns="0" bIns="0" rtlCol="0" anchor="ctr"/>
          <a:lstStyle/>
          <a:p>
            <a:pPr rtl="1" algn="r" indent="0" marL="0">
              <a:buNone/>
            </a:pPr>
            <a:r>
              <a:rPr lang="en-US" sz="900" b="1" spc="200" kern="0" dirty="0">
                <a:solidFill>
                  <a:srgbClr val="C49A2B"/>
                </a:solidFill>
                <a:latin typeface="Tajawal" pitchFamily="34" charset="0"/>
                <a:ea typeface="Tajawal" pitchFamily="34" charset="-122"/>
                <a:cs typeface="Tajawal" pitchFamily="34" charset="-120"/>
              </a:rPr>
              <a:t>ابتكار قوي</a:t>
            </a:r>
            <a:endParaRPr lang="en-US" sz="900" dirty="0"/>
          </a:p>
        </p:txBody>
      </p:sp>
      <p:sp>
        <p:nvSpPr>
          <p:cNvPr id="8" name="Text 6"/>
          <p:cNvSpPr/>
          <p:nvPr/>
        </p:nvSpPr>
        <p:spPr>
          <a:xfrm>
            <a:off x="6492240" y="2514600"/>
            <a:ext cx="5029200" cy="457200"/>
          </a:xfrm>
          <a:prstGeom prst="rect">
            <a:avLst/>
          </a:prstGeom>
          <a:noFill/>
          <a:ln/>
        </p:spPr>
        <p:txBody>
          <a:bodyPr wrap="square" lIns="0" tIns="0" rIns="0" bIns="0" rtlCol="0" anchor="ctr"/>
          <a:lstStyle/>
          <a:p>
            <a:pPr rtl="1" algn="r" indent="0" marL="0">
              <a:buNone/>
            </a:pPr>
            <a:r>
              <a:rPr lang="en-US" sz="1600" b="1" dirty="0">
                <a:solidFill>
                  <a:srgbClr val="0F2745"/>
                </a:solidFill>
                <a:latin typeface="Tajawal" pitchFamily="34" charset="0"/>
                <a:ea typeface="Tajawal" pitchFamily="34" charset="-122"/>
                <a:cs typeface="Tajawal" pitchFamily="34" charset="-120"/>
              </a:rPr>
              <a:t>ذاكرة صرفية ثلاثية التدفّقات</a:t>
            </a:r>
            <a:endParaRPr lang="en-US" sz="1600" dirty="0"/>
          </a:p>
        </p:txBody>
      </p:sp>
      <p:sp>
        <p:nvSpPr>
          <p:cNvPr id="9" name="Text 7"/>
          <p:cNvSpPr/>
          <p:nvPr/>
        </p:nvSpPr>
        <p:spPr>
          <a:xfrm>
            <a:off x="6492240" y="2971800"/>
            <a:ext cx="5029200" cy="777240"/>
          </a:xfrm>
          <a:prstGeom prst="rect">
            <a:avLst/>
          </a:prstGeom>
          <a:noFill/>
          <a:ln/>
        </p:spPr>
        <p:txBody>
          <a:bodyPr wrap="square" lIns="0" tIns="0" rIns="0" bIns="0" rtlCol="0" anchor="ctr"/>
          <a:lstStyle/>
          <a:p>
            <a:pPr rtl="1" algn="r" indent="0" marL="0">
              <a:lnSpc>
                <a:spcPts val="1600"/>
              </a:lnSpc>
              <a:buNone/>
            </a:pPr>
            <a:r>
              <a:rPr lang="en-US" sz="1000" dirty="0">
                <a:solidFill>
                  <a:srgbClr val="3D4A5C"/>
                </a:solidFill>
                <a:latin typeface="Tajawal" pitchFamily="34" charset="0"/>
                <a:ea typeface="Tajawal" pitchFamily="34" charset="-122"/>
                <a:cs typeface="Tajawal" pitchFamily="34" charset="-120"/>
              </a:rPr>
              <a:t>ثلاثة تدفّقات تضمين قابلة للعنونة باستقلال (جذر/وزن/سطح) محفوظة عبر مكدّس الترانسفورمر. أقرب فن سابق: نماذج اللغة المُعامَلة — لكن دون فصل التدفّقات خلال الانتباه.</a:t>
            </a:r>
            <a:endParaRPr lang="en-US" sz="1000" dirty="0"/>
          </a:p>
        </p:txBody>
      </p:sp>
      <p:sp>
        <p:nvSpPr>
          <p:cNvPr id="10" name="Shape 8"/>
          <p:cNvSpPr/>
          <p:nvPr/>
        </p:nvSpPr>
        <p:spPr>
          <a:xfrm>
            <a:off x="457200" y="1828800"/>
            <a:ext cx="5440680" cy="1965960"/>
          </a:xfrm>
          <a:prstGeom prst="roundRect">
            <a:avLst>
              <a:gd name="adj" fmla="val 3721"/>
            </a:avLst>
          </a:prstGeom>
          <a:solidFill>
            <a:srgbClr val="F4F6F8"/>
          </a:solidFill>
          <a:ln w="6350">
            <a:solidFill>
              <a:srgbClr val="DEE3EA"/>
            </a:solidFill>
            <a:prstDash val="solid"/>
          </a:ln>
        </p:spPr>
      </p:sp>
      <p:sp>
        <p:nvSpPr>
          <p:cNvPr id="11" name="Text 9"/>
          <p:cNvSpPr/>
          <p:nvPr/>
        </p:nvSpPr>
        <p:spPr>
          <a:xfrm>
            <a:off x="685800" y="2011680"/>
            <a:ext cx="914400" cy="457200"/>
          </a:xfrm>
          <a:prstGeom prst="rect">
            <a:avLst/>
          </a:prstGeom>
          <a:noFill/>
          <a:ln/>
        </p:spPr>
        <p:txBody>
          <a:bodyPr wrap="square" lIns="0" tIns="0" rIns="0" bIns="0" rtlCol="0" anchor="ctr"/>
          <a:lstStyle/>
          <a:p>
            <a:pPr algn="l" indent="0" marL="0">
              <a:buNone/>
            </a:pPr>
            <a:r>
              <a:rPr lang="en-US" sz="2200" b="1" dirty="0">
                <a:solidFill>
                  <a:srgbClr val="C49A2B"/>
                </a:solidFill>
                <a:latin typeface="Calibri" pitchFamily="34" charset="0"/>
                <a:ea typeface="Calibri" pitchFamily="34" charset="-122"/>
                <a:cs typeface="Calibri" pitchFamily="34" charset="-120"/>
              </a:rPr>
              <a:t>P02</a:t>
            </a:r>
            <a:endParaRPr lang="en-US" sz="2200" dirty="0"/>
          </a:p>
        </p:txBody>
      </p:sp>
      <p:sp>
        <p:nvSpPr>
          <p:cNvPr id="12" name="Text 10"/>
          <p:cNvSpPr/>
          <p:nvPr/>
        </p:nvSpPr>
        <p:spPr>
          <a:xfrm>
            <a:off x="3657600" y="2057400"/>
            <a:ext cx="2103120" cy="365760"/>
          </a:xfrm>
          <a:prstGeom prst="rect">
            <a:avLst/>
          </a:prstGeom>
          <a:noFill/>
          <a:ln/>
        </p:spPr>
        <p:txBody>
          <a:bodyPr wrap="square" lIns="0" tIns="0" rIns="0" bIns="0" rtlCol="0" anchor="ctr"/>
          <a:lstStyle/>
          <a:p>
            <a:pPr rtl="1" algn="r" indent="0" marL="0">
              <a:buNone/>
            </a:pPr>
            <a:r>
              <a:rPr lang="en-US" sz="900" b="1" spc="200" kern="0" dirty="0">
                <a:solidFill>
                  <a:srgbClr val="C49A2B"/>
                </a:solidFill>
                <a:latin typeface="Tajawal" pitchFamily="34" charset="0"/>
                <a:ea typeface="Tajawal" pitchFamily="34" charset="-122"/>
                <a:cs typeface="Tajawal" pitchFamily="34" charset="-120"/>
              </a:rPr>
              <a:t>ابتكار قوي</a:t>
            </a:r>
            <a:endParaRPr lang="en-US" sz="900" dirty="0"/>
          </a:p>
        </p:txBody>
      </p:sp>
      <p:sp>
        <p:nvSpPr>
          <p:cNvPr id="13" name="Text 11"/>
          <p:cNvSpPr/>
          <p:nvPr/>
        </p:nvSpPr>
        <p:spPr>
          <a:xfrm>
            <a:off x="685800" y="2514600"/>
            <a:ext cx="5029200" cy="457200"/>
          </a:xfrm>
          <a:prstGeom prst="rect">
            <a:avLst/>
          </a:prstGeom>
          <a:noFill/>
          <a:ln/>
        </p:spPr>
        <p:txBody>
          <a:bodyPr wrap="square" lIns="0" tIns="0" rIns="0" bIns="0" rtlCol="0" anchor="ctr"/>
          <a:lstStyle/>
          <a:p>
            <a:pPr rtl="1" algn="r" indent="0" marL="0">
              <a:buNone/>
            </a:pPr>
            <a:r>
              <a:rPr lang="en-US" sz="1600" b="1" dirty="0">
                <a:solidFill>
                  <a:srgbClr val="0F2745"/>
                </a:solidFill>
                <a:latin typeface="Tajawal" pitchFamily="34" charset="0"/>
                <a:ea typeface="Tajawal" pitchFamily="34" charset="-122"/>
                <a:cs typeface="Tajawal" pitchFamily="34" charset="-120"/>
              </a:rPr>
              <a:t>الاسترجاع الدلالي الجيوديزي</a:t>
            </a:r>
            <a:endParaRPr lang="en-US" sz="1600" dirty="0"/>
          </a:p>
        </p:txBody>
      </p:sp>
      <p:sp>
        <p:nvSpPr>
          <p:cNvPr id="14" name="Text 12"/>
          <p:cNvSpPr/>
          <p:nvPr/>
        </p:nvSpPr>
        <p:spPr>
          <a:xfrm>
            <a:off x="685800" y="2971800"/>
            <a:ext cx="5029200" cy="777240"/>
          </a:xfrm>
          <a:prstGeom prst="rect">
            <a:avLst/>
          </a:prstGeom>
          <a:noFill/>
          <a:ln/>
        </p:spPr>
        <p:txBody>
          <a:bodyPr wrap="square" lIns="0" tIns="0" rIns="0" bIns="0" rtlCol="0" anchor="ctr"/>
          <a:lstStyle/>
          <a:p>
            <a:pPr rtl="1" algn="r" indent="0" marL="0">
              <a:lnSpc>
                <a:spcPts val="1600"/>
              </a:lnSpc>
              <a:buNone/>
            </a:pPr>
            <a:r>
              <a:rPr lang="en-US" sz="1000" dirty="0">
                <a:solidFill>
                  <a:srgbClr val="3D4A5C"/>
                </a:solidFill>
                <a:latin typeface="Tajawal" pitchFamily="34" charset="0"/>
                <a:ea typeface="Tajawal" pitchFamily="34" charset="-122"/>
                <a:cs typeface="Tajawal" pitchFamily="34" charset="-120"/>
              </a:rPr>
              <a:t>استرجاع بأقصر مسار مشروط بالاستعلام على رسم طوبولوجي مُتعلَّم مع قيد ميزانية حوسبة. أقرب فن سابق: RAG, HippoRAG — لكنها خارجية. آليتنا الداخلية مبتكرة.</a:t>
            </a:r>
            <a:endParaRPr lang="en-US" sz="1000" dirty="0"/>
          </a:p>
        </p:txBody>
      </p:sp>
      <p:sp>
        <p:nvSpPr>
          <p:cNvPr id="15" name="Shape 13"/>
          <p:cNvSpPr/>
          <p:nvPr/>
        </p:nvSpPr>
        <p:spPr>
          <a:xfrm>
            <a:off x="6263640" y="3977640"/>
            <a:ext cx="5440680" cy="1965960"/>
          </a:xfrm>
          <a:prstGeom prst="roundRect">
            <a:avLst>
              <a:gd name="adj" fmla="val 3721"/>
            </a:avLst>
          </a:prstGeom>
          <a:solidFill>
            <a:srgbClr val="F4F6F8"/>
          </a:solidFill>
          <a:ln w="6350">
            <a:solidFill>
              <a:srgbClr val="DEE3EA"/>
            </a:solidFill>
            <a:prstDash val="solid"/>
          </a:ln>
        </p:spPr>
      </p:sp>
      <p:sp>
        <p:nvSpPr>
          <p:cNvPr id="16" name="Text 14"/>
          <p:cNvSpPr/>
          <p:nvPr/>
        </p:nvSpPr>
        <p:spPr>
          <a:xfrm>
            <a:off x="6492240" y="4160520"/>
            <a:ext cx="914400" cy="457200"/>
          </a:xfrm>
          <a:prstGeom prst="rect">
            <a:avLst/>
          </a:prstGeom>
          <a:noFill/>
          <a:ln/>
        </p:spPr>
        <p:txBody>
          <a:bodyPr wrap="square" lIns="0" tIns="0" rIns="0" bIns="0" rtlCol="0" anchor="ctr"/>
          <a:lstStyle/>
          <a:p>
            <a:pPr algn="l" indent="0" marL="0">
              <a:buNone/>
            </a:pPr>
            <a:r>
              <a:rPr lang="en-US" sz="2200" b="1" dirty="0">
                <a:solidFill>
                  <a:srgbClr val="1F8A98"/>
                </a:solidFill>
                <a:latin typeface="Calibri" pitchFamily="34" charset="0"/>
                <a:ea typeface="Calibri" pitchFamily="34" charset="-122"/>
                <a:cs typeface="Calibri" pitchFamily="34" charset="-120"/>
              </a:rPr>
              <a:t>P03</a:t>
            </a:r>
            <a:endParaRPr lang="en-US" sz="2200" dirty="0"/>
          </a:p>
        </p:txBody>
      </p:sp>
      <p:sp>
        <p:nvSpPr>
          <p:cNvPr id="17" name="Text 15"/>
          <p:cNvSpPr/>
          <p:nvPr/>
        </p:nvSpPr>
        <p:spPr>
          <a:xfrm>
            <a:off x="9464040" y="4206240"/>
            <a:ext cx="2103120" cy="365760"/>
          </a:xfrm>
          <a:prstGeom prst="rect">
            <a:avLst/>
          </a:prstGeom>
          <a:noFill/>
          <a:ln/>
        </p:spPr>
        <p:txBody>
          <a:bodyPr wrap="square" lIns="0" tIns="0" rIns="0" bIns="0" rtlCol="0" anchor="ctr"/>
          <a:lstStyle/>
          <a:p>
            <a:pPr rtl="1" algn="r" indent="0" marL="0">
              <a:buNone/>
            </a:pPr>
            <a:r>
              <a:rPr lang="en-US" sz="900" b="1" spc="200" kern="0" dirty="0">
                <a:solidFill>
                  <a:srgbClr val="1F8A98"/>
                </a:solidFill>
                <a:latin typeface="Tajawal" pitchFamily="34" charset="0"/>
                <a:ea typeface="Tajawal" pitchFamily="34" charset="-122"/>
                <a:cs typeface="Tajawal" pitchFamily="34" charset="-120"/>
              </a:rPr>
              <a:t>متوسط-قوي</a:t>
            </a:r>
            <a:endParaRPr lang="en-US" sz="900" dirty="0"/>
          </a:p>
        </p:txBody>
      </p:sp>
      <p:sp>
        <p:nvSpPr>
          <p:cNvPr id="18" name="Text 16"/>
          <p:cNvSpPr/>
          <p:nvPr/>
        </p:nvSpPr>
        <p:spPr>
          <a:xfrm>
            <a:off x="6492240" y="4663440"/>
            <a:ext cx="5029200" cy="457200"/>
          </a:xfrm>
          <a:prstGeom prst="rect">
            <a:avLst/>
          </a:prstGeom>
          <a:noFill/>
          <a:ln/>
        </p:spPr>
        <p:txBody>
          <a:bodyPr wrap="square" lIns="0" tIns="0" rIns="0" bIns="0" rtlCol="0" anchor="ctr"/>
          <a:lstStyle/>
          <a:p>
            <a:pPr rtl="1" algn="r" indent="0" marL="0">
              <a:buNone/>
            </a:pPr>
            <a:r>
              <a:rPr lang="en-US" sz="1600" b="1" dirty="0">
                <a:solidFill>
                  <a:srgbClr val="0F2745"/>
                </a:solidFill>
                <a:latin typeface="Tajawal" pitchFamily="34" charset="0"/>
                <a:ea typeface="Tajawal" pitchFamily="34" charset="-122"/>
                <a:cs typeface="Tajawal" pitchFamily="34" charset="-120"/>
              </a:rPr>
              <a:t>سياسة ضغط عدائية</a:t>
            </a:r>
            <a:endParaRPr lang="en-US" sz="1600" dirty="0"/>
          </a:p>
        </p:txBody>
      </p:sp>
      <p:sp>
        <p:nvSpPr>
          <p:cNvPr id="19" name="Text 17"/>
          <p:cNvSpPr/>
          <p:nvPr/>
        </p:nvSpPr>
        <p:spPr>
          <a:xfrm>
            <a:off x="6492240" y="5120640"/>
            <a:ext cx="5029200" cy="777240"/>
          </a:xfrm>
          <a:prstGeom prst="rect">
            <a:avLst/>
          </a:prstGeom>
          <a:noFill/>
          <a:ln/>
        </p:spPr>
        <p:txBody>
          <a:bodyPr wrap="square" lIns="0" tIns="0" rIns="0" bIns="0" rtlCol="0" anchor="ctr"/>
          <a:lstStyle/>
          <a:p>
            <a:pPr rtl="1" algn="r" indent="0" marL="0">
              <a:lnSpc>
                <a:spcPts val="1600"/>
              </a:lnSpc>
              <a:buNone/>
            </a:pPr>
            <a:r>
              <a:rPr lang="en-US" sz="1000" dirty="0">
                <a:solidFill>
                  <a:srgbClr val="3D4A5C"/>
                </a:solidFill>
                <a:latin typeface="Tajawal" pitchFamily="34" charset="0"/>
                <a:ea typeface="Tajawal" pitchFamily="34" charset="-122"/>
                <a:cs typeface="Tajawal" pitchFamily="34" charset="-120"/>
              </a:rPr>
              <a:t>متحكّم مساعد مُدرَّب عدائياً ضد خسارة إعادة البناء، مع معاملات ضغط مُطبَّقة طبقياً صرفياً. أقرب فن سابق: Activation Beacon — دون التدريب العدائي ودون الوعي الصرفي.</a:t>
            </a:r>
            <a:endParaRPr lang="en-US" sz="1000" dirty="0"/>
          </a:p>
        </p:txBody>
      </p:sp>
      <p:sp>
        <p:nvSpPr>
          <p:cNvPr id="20" name="Shape 18"/>
          <p:cNvSpPr/>
          <p:nvPr/>
        </p:nvSpPr>
        <p:spPr>
          <a:xfrm>
            <a:off x="457200" y="3977640"/>
            <a:ext cx="5440680" cy="1965960"/>
          </a:xfrm>
          <a:prstGeom prst="roundRect">
            <a:avLst>
              <a:gd name="adj" fmla="val 3721"/>
            </a:avLst>
          </a:prstGeom>
          <a:solidFill>
            <a:srgbClr val="F4F6F8"/>
          </a:solidFill>
          <a:ln w="6350">
            <a:solidFill>
              <a:srgbClr val="DEE3EA"/>
            </a:solidFill>
            <a:prstDash val="solid"/>
          </a:ln>
        </p:spPr>
      </p:sp>
      <p:sp>
        <p:nvSpPr>
          <p:cNvPr id="21" name="Text 19"/>
          <p:cNvSpPr/>
          <p:nvPr/>
        </p:nvSpPr>
        <p:spPr>
          <a:xfrm>
            <a:off x="685800" y="4160520"/>
            <a:ext cx="914400" cy="457200"/>
          </a:xfrm>
          <a:prstGeom prst="rect">
            <a:avLst/>
          </a:prstGeom>
          <a:noFill/>
          <a:ln/>
        </p:spPr>
        <p:txBody>
          <a:bodyPr wrap="square" lIns="0" tIns="0" rIns="0" bIns="0" rtlCol="0" anchor="ctr"/>
          <a:lstStyle/>
          <a:p>
            <a:pPr algn="l" indent="0" marL="0">
              <a:buNone/>
            </a:pPr>
            <a:r>
              <a:rPr lang="en-US" sz="2200" b="1" dirty="0">
                <a:solidFill>
                  <a:srgbClr val="8A96A7"/>
                </a:solidFill>
                <a:latin typeface="Calibri" pitchFamily="34" charset="0"/>
                <a:ea typeface="Calibri" pitchFamily="34" charset="-122"/>
                <a:cs typeface="Calibri" pitchFamily="34" charset="-120"/>
              </a:rPr>
              <a:t>P04</a:t>
            </a:r>
            <a:endParaRPr lang="en-US" sz="2200" dirty="0"/>
          </a:p>
        </p:txBody>
      </p:sp>
      <p:sp>
        <p:nvSpPr>
          <p:cNvPr id="22" name="Text 20"/>
          <p:cNvSpPr/>
          <p:nvPr/>
        </p:nvSpPr>
        <p:spPr>
          <a:xfrm>
            <a:off x="3657600" y="4206240"/>
            <a:ext cx="2103120" cy="365760"/>
          </a:xfrm>
          <a:prstGeom prst="rect">
            <a:avLst/>
          </a:prstGeom>
          <a:noFill/>
          <a:ln/>
        </p:spPr>
        <p:txBody>
          <a:bodyPr wrap="square" lIns="0" tIns="0" rIns="0" bIns="0" rtlCol="0" anchor="ctr"/>
          <a:lstStyle/>
          <a:p>
            <a:pPr rtl="1" algn="r" indent="0" marL="0">
              <a:buNone/>
            </a:pPr>
            <a:r>
              <a:rPr lang="en-US" sz="900" b="1" spc="200" kern="0" dirty="0">
                <a:solidFill>
                  <a:srgbClr val="8A96A7"/>
                </a:solidFill>
                <a:latin typeface="Tajawal" pitchFamily="34" charset="0"/>
                <a:ea typeface="Tajawal" pitchFamily="34" charset="-122"/>
                <a:cs typeface="Tajawal" pitchFamily="34" charset="-120"/>
              </a:rPr>
              <a:t>دفاعي / متخصّص</a:t>
            </a:r>
            <a:endParaRPr lang="en-US" sz="900" dirty="0"/>
          </a:p>
        </p:txBody>
      </p:sp>
      <p:sp>
        <p:nvSpPr>
          <p:cNvPr id="23" name="Text 21"/>
          <p:cNvSpPr/>
          <p:nvPr/>
        </p:nvSpPr>
        <p:spPr>
          <a:xfrm>
            <a:off x="685800" y="4663440"/>
            <a:ext cx="5029200" cy="457200"/>
          </a:xfrm>
          <a:prstGeom prst="rect">
            <a:avLst/>
          </a:prstGeom>
          <a:noFill/>
          <a:ln/>
        </p:spPr>
        <p:txBody>
          <a:bodyPr wrap="square" lIns="0" tIns="0" rIns="0" bIns="0" rtlCol="0" anchor="ctr"/>
          <a:lstStyle/>
          <a:p>
            <a:pPr rtl="1" algn="r" indent="0" marL="0">
              <a:buNone/>
            </a:pPr>
            <a:r>
              <a:rPr lang="en-US" sz="1600" b="1" dirty="0">
                <a:solidFill>
                  <a:srgbClr val="0F2745"/>
                </a:solidFill>
                <a:latin typeface="Tajawal" pitchFamily="34" charset="0"/>
                <a:ea typeface="Tajawal" pitchFamily="34" charset="-122"/>
                <a:cs typeface="Tajawal" pitchFamily="34" charset="-120"/>
              </a:rPr>
              <a:t>عزل التدفّقات السيادي</a:t>
            </a:r>
            <a:endParaRPr lang="en-US" sz="1600" dirty="0"/>
          </a:p>
        </p:txBody>
      </p:sp>
      <p:sp>
        <p:nvSpPr>
          <p:cNvPr id="24" name="Text 22"/>
          <p:cNvSpPr/>
          <p:nvPr/>
        </p:nvSpPr>
        <p:spPr>
          <a:xfrm>
            <a:off x="685800" y="5120640"/>
            <a:ext cx="5029200" cy="777240"/>
          </a:xfrm>
          <a:prstGeom prst="rect">
            <a:avLst/>
          </a:prstGeom>
          <a:noFill/>
          <a:ln/>
        </p:spPr>
        <p:txBody>
          <a:bodyPr wrap="square" lIns="0" tIns="0" rIns="0" bIns="0" rtlCol="0" anchor="ctr"/>
          <a:lstStyle/>
          <a:p>
            <a:pPr rtl="1" algn="r" indent="0" marL="0">
              <a:lnSpc>
                <a:spcPts val="1600"/>
              </a:lnSpc>
              <a:buNone/>
            </a:pPr>
            <a:r>
              <a:rPr lang="en-US" sz="1000" dirty="0">
                <a:solidFill>
                  <a:srgbClr val="3D4A5C"/>
                </a:solidFill>
                <a:latin typeface="Tajawal" pitchFamily="34" charset="0"/>
                <a:ea typeface="Tajawal" pitchFamily="34" charset="-122"/>
                <a:cs typeface="Tajawal" pitchFamily="34" charset="-120"/>
              </a:rPr>
              <a:t>عزل تشفيري للتدفّقات الصرفية يُتيح تحكّماً بالوصول لكل تدفّق للنشر السيادي. الغرض الرئيسي: خندق دفاعي للأطر التنظيمية الإقليمية لحوكمة الذكاء الاصطناعي.</a:t>
            </a:r>
            <a:endParaRPr lang="en-US" sz="1000" dirty="0"/>
          </a:p>
        </p:txBody>
      </p:sp>
      <p:sp>
        <p:nvSpPr>
          <p:cNvPr id="25" name="Text 23"/>
          <p:cNvSpPr/>
          <p:nvPr/>
        </p:nvSpPr>
        <p:spPr>
          <a:xfrm>
            <a:off x="457200" y="6263640"/>
            <a:ext cx="11247120" cy="274320"/>
          </a:xfrm>
          <a:prstGeom prst="rect">
            <a:avLst/>
          </a:prstGeom>
          <a:noFill/>
          <a:ln/>
        </p:spPr>
        <p:txBody>
          <a:bodyPr wrap="square" lIns="0" tIns="0" rIns="0" bIns="0" rtlCol="0" anchor="ctr"/>
          <a:lstStyle/>
          <a:p>
            <a:pPr rtl="1" algn="r" indent="0" marL="0">
              <a:buNone/>
            </a:pPr>
            <a:r>
              <a:rPr lang="en-US" sz="900" i="1" dirty="0">
                <a:solidFill>
                  <a:srgbClr val="8A96A7"/>
                </a:solidFill>
                <a:latin typeface="Tajawal" pitchFamily="34" charset="0"/>
                <a:ea typeface="Tajawal" pitchFamily="34" charset="-122"/>
                <a:cs typeface="Tajawal" pitchFamily="34" charset="-120"/>
              </a:rPr>
              <a:t>الإيداع المبدئي في الشهر 2  ·  PCT كامل في الشهر 12  ·  مرحلة وطنية في الشهر 30 (US/EPO/CN/GCC/JP/KR/IN)</a:t>
            </a:r>
            <a:endParaRPr lang="en-US" sz="900" dirty="0"/>
          </a:p>
        </p:txBody>
      </p:sp>
      <p:sp>
        <p:nvSpPr>
          <p:cNvPr id="26" name="Text 24"/>
          <p:cNvSpPr/>
          <p:nvPr/>
        </p:nvSpPr>
        <p:spPr>
          <a:xfrm>
            <a:off x="365760" y="6492240"/>
            <a:ext cx="3657600" cy="274320"/>
          </a:xfrm>
          <a:prstGeom prst="rect">
            <a:avLst/>
          </a:prstGeom>
          <a:noFill/>
          <a:ln/>
        </p:spPr>
        <p:txBody>
          <a:bodyPr wrap="square" lIns="0" tIns="0" rIns="0" bIns="0" rtlCol="0" anchor="ctr"/>
          <a:lstStyle/>
          <a:p>
            <a:pPr rtl="1" algn="l" indent="0" marL="0">
              <a:buNone/>
            </a:pPr>
            <a:r>
              <a:rPr lang="en-US" sz="800" dirty="0">
                <a:solidFill>
                  <a:srgbClr val="8A96A7"/>
                </a:solidFill>
                <a:latin typeface="Tajawal" pitchFamily="34" charset="0"/>
                <a:ea typeface="Tajawal" pitchFamily="34" charset="-122"/>
                <a:cs typeface="Tajawal" pitchFamily="34" charset="-120"/>
              </a:rPr>
              <a:t>ARKANE AI · سرّي</a:t>
            </a:r>
            <a:endParaRPr lang="en-US" sz="800" dirty="0"/>
          </a:p>
        </p:txBody>
      </p:sp>
      <p:sp>
        <p:nvSpPr>
          <p:cNvPr id="27" name="Text 25"/>
          <p:cNvSpPr/>
          <p:nvPr/>
        </p:nvSpPr>
        <p:spPr>
          <a:xfrm>
            <a:off x="11430000" y="6492240"/>
            <a:ext cx="548640" cy="274320"/>
          </a:xfrm>
          <a:prstGeom prst="rect">
            <a:avLst/>
          </a:prstGeom>
          <a:noFill/>
          <a:ln/>
        </p:spPr>
        <p:txBody>
          <a:bodyPr wrap="square" lIns="0" tIns="0" rIns="0" bIns="0" rtlCol="0" anchor="ctr"/>
          <a:lstStyle/>
          <a:p>
            <a:pPr algn="r" indent="0" marL="0">
              <a:buNone/>
            </a:pPr>
            <a:r>
              <a:rPr lang="en-US" sz="800" dirty="0">
                <a:solidFill>
                  <a:srgbClr val="8A96A7"/>
                </a:solidFill>
                <a:latin typeface="Calibri" pitchFamily="34" charset="0"/>
                <a:ea typeface="Calibri" pitchFamily="34" charset="-122"/>
                <a:cs typeface="Calibri" pitchFamily="34" charset="-120"/>
              </a:rPr>
              <a:t>8 / 18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47120" y="365760"/>
            <a:ext cx="640080" cy="365760"/>
          </a:xfrm>
          <a:prstGeom prst="rect">
            <a:avLst/>
          </a:prstGeom>
          <a:noFill/>
          <a:ln/>
        </p:spPr>
        <p:txBody>
          <a:bodyPr wrap="square" lIns="0" tIns="0" rIns="0" bIns="0" rtlCol="0" anchor="ctr"/>
          <a:lstStyle/>
          <a:p>
            <a:pPr algn="r" indent="0" marL="0">
              <a:buNone/>
            </a:pPr>
            <a:r>
              <a:rPr lang="en-US" sz="1400" b="1" dirty="0">
                <a:solidFill>
                  <a:srgbClr val="C49A2B"/>
                </a:solidFill>
                <a:latin typeface="Calibri" pitchFamily="34" charset="0"/>
                <a:ea typeface="Calibri" pitchFamily="34" charset="-122"/>
                <a:cs typeface="Calibri" pitchFamily="34" charset="-120"/>
              </a:rPr>
              <a:t>08</a:t>
            </a:r>
            <a:endParaRPr lang="en-US" sz="1400" dirty="0"/>
          </a:p>
        </p:txBody>
      </p:sp>
      <p:sp>
        <p:nvSpPr>
          <p:cNvPr id="3" name="Text 1"/>
          <p:cNvSpPr/>
          <p:nvPr/>
        </p:nvSpPr>
        <p:spPr>
          <a:xfrm>
            <a:off x="457200" y="685800"/>
            <a:ext cx="11247120" cy="731520"/>
          </a:xfrm>
          <a:prstGeom prst="rect">
            <a:avLst/>
          </a:prstGeom>
          <a:noFill/>
          <a:ln/>
        </p:spPr>
        <p:txBody>
          <a:bodyPr wrap="square" lIns="0" tIns="0" rIns="0" bIns="0" rtlCol="0" anchor="ctr"/>
          <a:lstStyle/>
          <a:p>
            <a:pPr rtl="1" algn="r" indent="0" marL="0">
              <a:buNone/>
            </a:pPr>
            <a:r>
              <a:rPr lang="en-US" sz="3600" b="1" dirty="0">
                <a:solidFill>
                  <a:srgbClr val="0F2745"/>
                </a:solidFill>
                <a:latin typeface="Tajawal" pitchFamily="34" charset="0"/>
                <a:ea typeface="Tajawal" pitchFamily="34" charset="-122"/>
                <a:cs typeface="Tajawal" pitchFamily="34" charset="-120"/>
              </a:rPr>
              <a:t>السوق: ثلاث فرص متمركزة</a:t>
            </a:r>
            <a:endParaRPr lang="en-US" sz="3600" dirty="0"/>
          </a:p>
        </p:txBody>
      </p:sp>
      <p:sp>
        <p:nvSpPr>
          <p:cNvPr id="4" name="Shape 2"/>
          <p:cNvSpPr/>
          <p:nvPr/>
        </p:nvSpPr>
        <p:spPr>
          <a:xfrm>
            <a:off x="10789920" y="1417320"/>
            <a:ext cx="914400" cy="45720"/>
          </a:xfrm>
          <a:prstGeom prst="rect">
            <a:avLst/>
          </a:prstGeom>
          <a:solidFill>
            <a:srgbClr val="C49A2B"/>
          </a:solidFill>
          <a:ln/>
        </p:spPr>
      </p:sp>
      <p:sp>
        <p:nvSpPr>
          <p:cNvPr id="5" name="Shape 3"/>
          <p:cNvSpPr/>
          <p:nvPr/>
        </p:nvSpPr>
        <p:spPr>
          <a:xfrm>
            <a:off x="640080" y="2011680"/>
            <a:ext cx="4206240" cy="4206240"/>
          </a:xfrm>
          <a:prstGeom prst="ellipse">
            <a:avLst/>
          </a:prstGeom>
          <a:solidFill>
            <a:srgbClr val="0F2745"/>
          </a:solidFill>
          <a:ln/>
        </p:spPr>
      </p:sp>
      <p:sp>
        <p:nvSpPr>
          <p:cNvPr id="6" name="Shape 4"/>
          <p:cNvSpPr/>
          <p:nvPr/>
        </p:nvSpPr>
        <p:spPr>
          <a:xfrm>
            <a:off x="1371600" y="2743200"/>
            <a:ext cx="2743200" cy="2743200"/>
          </a:xfrm>
          <a:prstGeom prst="ellipse">
            <a:avLst/>
          </a:prstGeom>
          <a:solidFill>
            <a:srgbClr val="1F8A98"/>
          </a:solidFill>
          <a:ln/>
        </p:spPr>
      </p:sp>
      <p:sp>
        <p:nvSpPr>
          <p:cNvPr id="7" name="Shape 5"/>
          <p:cNvSpPr/>
          <p:nvPr/>
        </p:nvSpPr>
        <p:spPr>
          <a:xfrm>
            <a:off x="2057400" y="3429000"/>
            <a:ext cx="1371600" cy="1371600"/>
          </a:xfrm>
          <a:prstGeom prst="ellipse">
            <a:avLst/>
          </a:prstGeom>
          <a:solidFill>
            <a:srgbClr val="C49A2B"/>
          </a:solidFill>
          <a:ln/>
        </p:spPr>
      </p:sp>
      <p:sp>
        <p:nvSpPr>
          <p:cNvPr id="8" name="Text 6"/>
          <p:cNvSpPr/>
          <p:nvPr/>
        </p:nvSpPr>
        <p:spPr>
          <a:xfrm>
            <a:off x="2057400" y="3566160"/>
            <a:ext cx="1371600" cy="1097280"/>
          </a:xfrm>
          <a:prstGeom prst="rect">
            <a:avLst/>
          </a:prstGeom>
          <a:noFill/>
          <a:ln/>
        </p:spPr>
        <p:txBody>
          <a:bodyPr wrap="square" lIns="0" tIns="0" rIns="0" bIns="0" rtlCol="0" anchor="ctr"/>
          <a:lstStyle/>
          <a:p>
            <a:pPr algn="ctr" indent="0" marL="0">
              <a:buNone/>
            </a:pPr>
            <a:r>
              <a:rPr lang="en-US" sz="1200" b="1" dirty="0">
                <a:solidFill>
                  <a:srgbClr val="FFFFFF"/>
                </a:solidFill>
                <a:latin typeface="Tajawal" pitchFamily="34" charset="0"/>
                <a:ea typeface="Tajawal" pitchFamily="34" charset="-122"/>
                <a:cs typeface="Tajawal" pitchFamily="34" charset="-120"/>
              </a:rPr>
              <a:t>SOM
</a:t>
            </a:r>
            <a:endParaRPr lang="en-US" sz="1200" dirty="0"/>
          </a:p>
          <a:p>
            <a:pPr algn="ctr" indent="0" marL="0">
              <a:buNone/>
            </a:pPr>
            <a:r>
              <a:rPr lang="en-US" sz="2200" b="1" dirty="0">
                <a:solidFill>
                  <a:srgbClr val="FFFFFF"/>
                </a:solidFill>
                <a:latin typeface="Calibri" pitchFamily="34" charset="0"/>
                <a:ea typeface="Calibri" pitchFamily="34" charset="-122"/>
                <a:cs typeface="Calibri" pitchFamily="34" charset="-120"/>
              </a:rPr>
              <a:t>8M$
</a:t>
            </a:r>
            <a:endParaRPr lang="en-US" sz="1200" dirty="0"/>
          </a:p>
          <a:p>
            <a:pPr algn="ctr" indent="0" marL="0">
              <a:buNone/>
            </a:pPr>
            <a:r>
              <a:rPr lang="en-US" sz="900" dirty="0">
                <a:solidFill>
                  <a:srgbClr val="FFFFFF"/>
                </a:solidFill>
                <a:latin typeface="Tajawal" pitchFamily="34" charset="0"/>
                <a:ea typeface="Tajawal" pitchFamily="34" charset="-122"/>
                <a:cs typeface="Tajawal" pitchFamily="34" charset="-120"/>
              </a:rPr>
              <a:t>السنة 3</a:t>
            </a:r>
            <a:endParaRPr lang="en-US" sz="1200" dirty="0"/>
          </a:p>
        </p:txBody>
      </p:sp>
      <p:sp>
        <p:nvSpPr>
          <p:cNvPr id="9" name="Text 7"/>
          <p:cNvSpPr/>
          <p:nvPr/>
        </p:nvSpPr>
        <p:spPr>
          <a:xfrm>
            <a:off x="1371600" y="5029200"/>
            <a:ext cx="2743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SAM · 11.5B$</a:t>
            </a:r>
            <a:endParaRPr lang="en-US" sz="1100" dirty="0"/>
          </a:p>
        </p:txBody>
      </p:sp>
      <p:sp>
        <p:nvSpPr>
          <p:cNvPr id="10" name="Text 8"/>
          <p:cNvSpPr/>
          <p:nvPr/>
        </p:nvSpPr>
        <p:spPr>
          <a:xfrm>
            <a:off x="640080" y="5852160"/>
            <a:ext cx="4206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TAM · 192B$</a:t>
            </a:r>
            <a:endParaRPr lang="en-US" sz="1100" dirty="0"/>
          </a:p>
        </p:txBody>
      </p:sp>
      <p:sp>
        <p:nvSpPr>
          <p:cNvPr id="11" name="Text 9"/>
          <p:cNvSpPr/>
          <p:nvPr/>
        </p:nvSpPr>
        <p:spPr>
          <a:xfrm>
            <a:off x="10698480" y="1920240"/>
            <a:ext cx="914400" cy="365760"/>
          </a:xfrm>
          <a:prstGeom prst="rect">
            <a:avLst/>
          </a:prstGeom>
          <a:noFill/>
          <a:ln/>
        </p:spPr>
        <p:txBody>
          <a:bodyPr wrap="square" lIns="0" tIns="0" rIns="0" bIns="0" rtlCol="0" anchor="ctr"/>
          <a:lstStyle/>
          <a:p>
            <a:pPr algn="r" indent="0" marL="0">
              <a:buNone/>
            </a:pPr>
            <a:r>
              <a:rPr lang="en-US" sz="1400" b="1" dirty="0">
                <a:solidFill>
                  <a:srgbClr val="C49A2B"/>
                </a:solidFill>
                <a:latin typeface="Calibri" pitchFamily="34" charset="0"/>
                <a:ea typeface="Calibri" pitchFamily="34" charset="-122"/>
                <a:cs typeface="Calibri" pitchFamily="34" charset="-120"/>
              </a:rPr>
              <a:t>TAM</a:t>
            </a:r>
            <a:endParaRPr lang="en-US" sz="1400" dirty="0"/>
          </a:p>
        </p:txBody>
      </p:sp>
      <p:sp>
        <p:nvSpPr>
          <p:cNvPr id="12" name="Text 10"/>
          <p:cNvSpPr/>
          <p:nvPr/>
        </p:nvSpPr>
        <p:spPr>
          <a:xfrm>
            <a:off x="5943600" y="1920240"/>
            <a:ext cx="4572000" cy="411480"/>
          </a:xfrm>
          <a:prstGeom prst="rect">
            <a:avLst/>
          </a:prstGeom>
          <a:noFill/>
          <a:ln/>
        </p:spPr>
        <p:txBody>
          <a:bodyPr wrap="square" lIns="0" tIns="0" rIns="0" bIns="0" rtlCol="0" anchor="ctr"/>
          <a:lstStyle/>
          <a:p>
            <a:pPr rtl="1" algn="r" indent="0" marL="0">
              <a:buNone/>
            </a:pPr>
            <a:r>
              <a:rPr lang="en-US" sz="1500" b="1" dirty="0">
                <a:solidFill>
                  <a:srgbClr val="0F2745"/>
                </a:solidFill>
                <a:latin typeface="Tajawal" pitchFamily="34" charset="0"/>
                <a:ea typeface="Tajawal" pitchFamily="34" charset="-122"/>
                <a:cs typeface="Tajawal" pitchFamily="34" charset="-120"/>
              </a:rPr>
              <a:t>نماذج الأساس والاستدلال عالمياً</a:t>
            </a:r>
            <a:endParaRPr lang="en-US" sz="1500" dirty="0"/>
          </a:p>
        </p:txBody>
      </p:sp>
      <p:sp>
        <p:nvSpPr>
          <p:cNvPr id="13" name="Text 11"/>
          <p:cNvSpPr/>
          <p:nvPr/>
        </p:nvSpPr>
        <p:spPr>
          <a:xfrm>
            <a:off x="5943600" y="2331720"/>
            <a:ext cx="5669280" cy="914400"/>
          </a:xfrm>
          <a:prstGeom prst="rect">
            <a:avLst/>
          </a:prstGeom>
          <a:noFill/>
          <a:ln/>
        </p:spPr>
        <p:txBody>
          <a:bodyPr wrap="square" lIns="0" tIns="0" rIns="0" bIns="0" rtlCol="0" anchor="ctr"/>
          <a:lstStyle/>
          <a:p>
            <a:pPr rtl="1" algn="r" indent="0" marL="0">
              <a:lnSpc>
                <a:spcPts val="1800"/>
              </a:lnSpc>
              <a:buNone/>
            </a:pPr>
            <a:r>
              <a:rPr lang="en-US" sz="1100" dirty="0">
                <a:solidFill>
                  <a:srgbClr val="3D4A5C"/>
                </a:solidFill>
                <a:latin typeface="Tajawal" pitchFamily="34" charset="0"/>
                <a:ea typeface="Tajawal" pitchFamily="34" charset="-122"/>
                <a:cs typeface="Tajawal" pitchFamily="34" charset="-120"/>
              </a:rPr>
              <a:t>192 مليار $ في 2025  ·  متوقّع 960 مليار $ بحلول 2030  ·  معدّل نمو 38٪. خدمات الاستدلال وحدها: 48 → 215 مليار $.</a:t>
            </a:r>
            <a:endParaRPr lang="en-US" sz="1100" dirty="0"/>
          </a:p>
        </p:txBody>
      </p:sp>
      <p:sp>
        <p:nvSpPr>
          <p:cNvPr id="14" name="Text 12"/>
          <p:cNvSpPr/>
          <p:nvPr/>
        </p:nvSpPr>
        <p:spPr>
          <a:xfrm>
            <a:off x="10698480" y="3337560"/>
            <a:ext cx="914400" cy="365760"/>
          </a:xfrm>
          <a:prstGeom prst="rect">
            <a:avLst/>
          </a:prstGeom>
          <a:noFill/>
          <a:ln/>
        </p:spPr>
        <p:txBody>
          <a:bodyPr wrap="square" lIns="0" tIns="0" rIns="0" bIns="0" rtlCol="0" anchor="ctr"/>
          <a:lstStyle/>
          <a:p>
            <a:pPr algn="r" indent="0" marL="0">
              <a:buNone/>
            </a:pPr>
            <a:r>
              <a:rPr lang="en-US" sz="1400" b="1" dirty="0">
                <a:solidFill>
                  <a:srgbClr val="C49A2B"/>
                </a:solidFill>
                <a:latin typeface="Calibri" pitchFamily="34" charset="0"/>
                <a:ea typeface="Calibri" pitchFamily="34" charset="-122"/>
                <a:cs typeface="Calibri" pitchFamily="34" charset="-120"/>
              </a:rPr>
              <a:t>SAM</a:t>
            </a:r>
            <a:endParaRPr lang="en-US" sz="1400" dirty="0"/>
          </a:p>
        </p:txBody>
      </p:sp>
      <p:sp>
        <p:nvSpPr>
          <p:cNvPr id="15" name="Text 13"/>
          <p:cNvSpPr/>
          <p:nvPr/>
        </p:nvSpPr>
        <p:spPr>
          <a:xfrm>
            <a:off x="5943600" y="3337560"/>
            <a:ext cx="4572000" cy="411480"/>
          </a:xfrm>
          <a:prstGeom prst="rect">
            <a:avLst/>
          </a:prstGeom>
          <a:noFill/>
          <a:ln/>
        </p:spPr>
        <p:txBody>
          <a:bodyPr wrap="square" lIns="0" tIns="0" rIns="0" bIns="0" rtlCol="0" anchor="ctr"/>
          <a:lstStyle/>
          <a:p>
            <a:pPr rtl="1" algn="r" indent="0" marL="0">
              <a:buNone/>
            </a:pPr>
            <a:r>
              <a:rPr lang="en-US" sz="1500" b="1" dirty="0">
                <a:solidFill>
                  <a:srgbClr val="0F2745"/>
                </a:solidFill>
                <a:latin typeface="Tajawal" pitchFamily="34" charset="0"/>
                <a:ea typeface="Tajawal" pitchFamily="34" charset="-122"/>
                <a:cs typeface="Tajawal" pitchFamily="34" charset="-120"/>
              </a:rPr>
              <a:t>سوق الشرق الأوسط / العربية</a:t>
            </a:r>
            <a:endParaRPr lang="en-US" sz="1500" dirty="0"/>
          </a:p>
        </p:txBody>
      </p:sp>
      <p:sp>
        <p:nvSpPr>
          <p:cNvPr id="16" name="Text 14"/>
          <p:cNvSpPr/>
          <p:nvPr/>
        </p:nvSpPr>
        <p:spPr>
          <a:xfrm>
            <a:off x="5943600" y="3749040"/>
            <a:ext cx="5669280" cy="914400"/>
          </a:xfrm>
          <a:prstGeom prst="rect">
            <a:avLst/>
          </a:prstGeom>
          <a:noFill/>
          <a:ln/>
        </p:spPr>
        <p:txBody>
          <a:bodyPr wrap="square" lIns="0" tIns="0" rIns="0" bIns="0" rtlCol="0" anchor="ctr"/>
          <a:lstStyle/>
          <a:p>
            <a:pPr rtl="1" algn="r" indent="0" marL="0">
              <a:lnSpc>
                <a:spcPts val="1800"/>
              </a:lnSpc>
              <a:buNone/>
            </a:pPr>
            <a:r>
              <a:rPr lang="en-US" sz="1100" dirty="0">
                <a:solidFill>
                  <a:srgbClr val="3D4A5C"/>
                </a:solidFill>
                <a:latin typeface="Tajawal" pitchFamily="34" charset="0"/>
                <a:ea typeface="Tajawal" pitchFamily="34" charset="-122"/>
                <a:cs typeface="Tajawal" pitchFamily="34" charset="-120"/>
              </a:rPr>
              <a:t>11.5 مليار $ في 2025 → 58 مليار $ في 2030. عمليات النشر السيادية الإقليمية تستهدف سعة متعددة الجيجاواتات = 18–60 مليار $ سنوياً.</a:t>
            </a:r>
            <a:endParaRPr lang="en-US" sz="1100" dirty="0"/>
          </a:p>
        </p:txBody>
      </p:sp>
      <p:sp>
        <p:nvSpPr>
          <p:cNvPr id="17" name="Text 15"/>
          <p:cNvSpPr/>
          <p:nvPr/>
        </p:nvSpPr>
        <p:spPr>
          <a:xfrm>
            <a:off x="10698480" y="4754880"/>
            <a:ext cx="914400" cy="365760"/>
          </a:xfrm>
          <a:prstGeom prst="rect">
            <a:avLst/>
          </a:prstGeom>
          <a:noFill/>
          <a:ln/>
        </p:spPr>
        <p:txBody>
          <a:bodyPr wrap="square" lIns="0" tIns="0" rIns="0" bIns="0" rtlCol="0" anchor="ctr"/>
          <a:lstStyle/>
          <a:p>
            <a:pPr algn="r" indent="0" marL="0">
              <a:buNone/>
            </a:pPr>
            <a:r>
              <a:rPr lang="en-US" sz="1400" b="1" dirty="0">
                <a:solidFill>
                  <a:srgbClr val="C49A2B"/>
                </a:solidFill>
                <a:latin typeface="Calibri" pitchFamily="34" charset="0"/>
                <a:ea typeface="Calibri" pitchFamily="34" charset="-122"/>
                <a:cs typeface="Calibri" pitchFamily="34" charset="-120"/>
              </a:rPr>
              <a:t>SOM</a:t>
            </a:r>
            <a:endParaRPr lang="en-US" sz="1400" dirty="0"/>
          </a:p>
        </p:txBody>
      </p:sp>
      <p:sp>
        <p:nvSpPr>
          <p:cNvPr id="18" name="Text 16"/>
          <p:cNvSpPr/>
          <p:nvPr/>
        </p:nvSpPr>
        <p:spPr>
          <a:xfrm>
            <a:off x="5943600" y="4754880"/>
            <a:ext cx="4572000" cy="411480"/>
          </a:xfrm>
          <a:prstGeom prst="rect">
            <a:avLst/>
          </a:prstGeom>
          <a:noFill/>
          <a:ln/>
        </p:spPr>
        <p:txBody>
          <a:bodyPr wrap="square" lIns="0" tIns="0" rIns="0" bIns="0" rtlCol="0" anchor="ctr"/>
          <a:lstStyle/>
          <a:p>
            <a:pPr rtl="1" algn="r" indent="0" marL="0">
              <a:buNone/>
            </a:pPr>
            <a:r>
              <a:rPr lang="en-US" sz="1500" b="1" dirty="0">
                <a:solidFill>
                  <a:srgbClr val="0F2745"/>
                </a:solidFill>
                <a:latin typeface="Tajawal" pitchFamily="34" charset="0"/>
                <a:ea typeface="Tajawal" pitchFamily="34" charset="-122"/>
                <a:cs typeface="Tajawal" pitchFamily="34" charset="-120"/>
              </a:rPr>
              <a:t>السيادي الإقليمي + الجهات الحكومية + الخليج</a:t>
            </a:r>
            <a:endParaRPr lang="en-US" sz="1500" dirty="0"/>
          </a:p>
        </p:txBody>
      </p:sp>
      <p:sp>
        <p:nvSpPr>
          <p:cNvPr id="19" name="Text 17"/>
          <p:cNvSpPr/>
          <p:nvPr/>
        </p:nvSpPr>
        <p:spPr>
          <a:xfrm>
            <a:off x="5943600" y="5166360"/>
            <a:ext cx="5669280" cy="914400"/>
          </a:xfrm>
          <a:prstGeom prst="rect">
            <a:avLst/>
          </a:prstGeom>
          <a:noFill/>
          <a:ln/>
        </p:spPr>
        <p:txBody>
          <a:bodyPr wrap="square" lIns="0" tIns="0" rIns="0" bIns="0" rtlCol="0" anchor="ctr"/>
          <a:lstStyle/>
          <a:p>
            <a:pPr rtl="1" algn="r" indent="0" marL="0">
              <a:lnSpc>
                <a:spcPts val="1800"/>
              </a:lnSpc>
              <a:buNone/>
            </a:pPr>
            <a:r>
              <a:rPr lang="en-US" sz="1100" dirty="0">
                <a:solidFill>
                  <a:srgbClr val="3D4A5C"/>
                </a:solidFill>
                <a:latin typeface="Tajawal" pitchFamily="34" charset="0"/>
                <a:ea typeface="Tajawal" pitchFamily="34" charset="-122"/>
                <a:cs typeface="Tajawal" pitchFamily="34" charset="-120"/>
              </a:rPr>
              <a:t>مسار نشر ملموس: البنية التحتية السيادية أولاً، ثم المؤسسات الإقليمية من الطبقة الأولى، ثم التوسّع في السوق الخليجي الأوسع.</a:t>
            </a:r>
            <a:endParaRPr lang="en-US" sz="1100" dirty="0"/>
          </a:p>
        </p:txBody>
      </p:sp>
      <p:sp>
        <p:nvSpPr>
          <p:cNvPr id="20" name="Text 18"/>
          <p:cNvSpPr/>
          <p:nvPr/>
        </p:nvSpPr>
        <p:spPr>
          <a:xfrm>
            <a:off x="365760" y="6492240"/>
            <a:ext cx="3657600" cy="274320"/>
          </a:xfrm>
          <a:prstGeom prst="rect">
            <a:avLst/>
          </a:prstGeom>
          <a:noFill/>
          <a:ln/>
        </p:spPr>
        <p:txBody>
          <a:bodyPr wrap="square" lIns="0" tIns="0" rIns="0" bIns="0" rtlCol="0" anchor="ctr"/>
          <a:lstStyle/>
          <a:p>
            <a:pPr rtl="1" algn="l" indent="0" marL="0">
              <a:buNone/>
            </a:pPr>
            <a:r>
              <a:rPr lang="en-US" sz="800" dirty="0">
                <a:solidFill>
                  <a:srgbClr val="8A96A7"/>
                </a:solidFill>
                <a:latin typeface="Tajawal" pitchFamily="34" charset="0"/>
                <a:ea typeface="Tajawal" pitchFamily="34" charset="-122"/>
                <a:cs typeface="Tajawal" pitchFamily="34" charset="-120"/>
              </a:rPr>
              <a:t>ARKANE AI · سرّي</a:t>
            </a:r>
            <a:endParaRPr lang="en-US" sz="800" dirty="0"/>
          </a:p>
        </p:txBody>
      </p:sp>
      <p:sp>
        <p:nvSpPr>
          <p:cNvPr id="21" name="Text 19"/>
          <p:cNvSpPr/>
          <p:nvPr/>
        </p:nvSpPr>
        <p:spPr>
          <a:xfrm>
            <a:off x="11430000" y="6492240"/>
            <a:ext cx="548640" cy="274320"/>
          </a:xfrm>
          <a:prstGeom prst="rect">
            <a:avLst/>
          </a:prstGeom>
          <a:noFill/>
          <a:ln/>
        </p:spPr>
        <p:txBody>
          <a:bodyPr wrap="square" lIns="0" tIns="0" rIns="0" bIns="0" rtlCol="0" anchor="ctr"/>
          <a:lstStyle/>
          <a:p>
            <a:pPr algn="r" indent="0" marL="0">
              <a:buNone/>
            </a:pPr>
            <a:r>
              <a:rPr lang="en-US" sz="800" dirty="0">
                <a:solidFill>
                  <a:srgbClr val="8A96A7"/>
                </a:solidFill>
                <a:latin typeface="Calibri" pitchFamily="34" charset="0"/>
                <a:ea typeface="Calibri" pitchFamily="34" charset="-122"/>
                <a:cs typeface="Calibri" pitchFamily="34" charset="-120"/>
              </a:rPr>
              <a:t>9 / 18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47120" y="365760"/>
            <a:ext cx="640080" cy="365760"/>
          </a:xfrm>
          <a:prstGeom prst="rect">
            <a:avLst/>
          </a:prstGeom>
          <a:noFill/>
          <a:ln/>
        </p:spPr>
        <p:txBody>
          <a:bodyPr wrap="square" lIns="0" tIns="0" rIns="0" bIns="0" rtlCol="0" anchor="ctr"/>
          <a:lstStyle/>
          <a:p>
            <a:pPr algn="r" indent="0" marL="0">
              <a:buNone/>
            </a:pPr>
            <a:r>
              <a:rPr lang="en-US" sz="1400" b="1" dirty="0">
                <a:solidFill>
                  <a:srgbClr val="C49A2B"/>
                </a:solidFill>
                <a:latin typeface="Calibri" pitchFamily="34" charset="0"/>
                <a:ea typeface="Calibri" pitchFamily="34" charset="-122"/>
                <a:cs typeface="Calibri" pitchFamily="34" charset="-120"/>
              </a:rPr>
              <a:t>09</a:t>
            </a:r>
            <a:endParaRPr lang="en-US" sz="1400" dirty="0"/>
          </a:p>
        </p:txBody>
      </p:sp>
      <p:sp>
        <p:nvSpPr>
          <p:cNvPr id="3" name="Text 1"/>
          <p:cNvSpPr/>
          <p:nvPr/>
        </p:nvSpPr>
        <p:spPr>
          <a:xfrm>
            <a:off x="457200" y="685800"/>
            <a:ext cx="11247120" cy="731520"/>
          </a:xfrm>
          <a:prstGeom prst="rect">
            <a:avLst/>
          </a:prstGeom>
          <a:noFill/>
          <a:ln/>
        </p:spPr>
        <p:txBody>
          <a:bodyPr wrap="square" lIns="0" tIns="0" rIns="0" bIns="0" rtlCol="0" anchor="ctr"/>
          <a:lstStyle/>
          <a:p>
            <a:pPr rtl="1" algn="r" indent="0" marL="0">
              <a:buNone/>
            </a:pPr>
            <a:r>
              <a:rPr lang="en-US" sz="3600" b="1" dirty="0">
                <a:solidFill>
                  <a:srgbClr val="0F2745"/>
                </a:solidFill>
                <a:latin typeface="Tajawal" pitchFamily="34" charset="0"/>
                <a:ea typeface="Tajawal" pitchFamily="34" charset="-122"/>
                <a:cs typeface="Tajawal" pitchFamily="34" charset="-120"/>
              </a:rPr>
              <a:t>الفرصة الاقتصادية للنشر</a:t>
            </a:r>
            <a:endParaRPr lang="en-US" sz="3600" dirty="0"/>
          </a:p>
        </p:txBody>
      </p:sp>
      <p:sp>
        <p:nvSpPr>
          <p:cNvPr id="4" name="Shape 2"/>
          <p:cNvSpPr/>
          <p:nvPr/>
        </p:nvSpPr>
        <p:spPr>
          <a:xfrm>
            <a:off x="10789920" y="1417320"/>
            <a:ext cx="914400" cy="45720"/>
          </a:xfrm>
          <a:prstGeom prst="rect">
            <a:avLst/>
          </a:prstGeom>
          <a:solidFill>
            <a:srgbClr val="C49A2B"/>
          </a:solidFill>
          <a:ln/>
        </p:spPr>
      </p:sp>
      <p:graphicFrame>
        <p:nvGraphicFramePr>
          <p:cNvPr id="5" name="Chart 0" descr=""/>
          <p:cNvGraphicFramePr/>
          <p:nvPr/>
        </p:nvGraphicFramePr>
        <p:xfrm>
          <a:off x="457200" y="182880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498080" y="2103120"/>
            <a:ext cx="4206240" cy="365760"/>
          </a:xfrm>
          <a:prstGeom prst="rect">
            <a:avLst/>
          </a:prstGeom>
          <a:noFill/>
          <a:ln/>
        </p:spPr>
        <p:txBody>
          <a:bodyPr wrap="square" lIns="0" tIns="0" rIns="0" bIns="0" rtlCol="0" anchor="ctr"/>
          <a:lstStyle/>
          <a:p>
            <a:pPr rtl="1" algn="r" indent="0" marL="0">
              <a:buNone/>
            </a:pPr>
            <a:r>
              <a:rPr lang="en-US" sz="1400" dirty="0">
                <a:solidFill>
                  <a:srgbClr val="3D4A5C"/>
                </a:solidFill>
                <a:latin typeface="Tajawal" pitchFamily="34" charset="0"/>
                <a:ea typeface="Tajawal" pitchFamily="34" charset="-122"/>
                <a:cs typeface="Tajawal" pitchFamily="34" charset="-120"/>
              </a:rPr>
              <a:t>القيمة السنوية في السنة 5</a:t>
            </a:r>
            <a:endParaRPr lang="en-US" sz="1400" dirty="0"/>
          </a:p>
        </p:txBody>
      </p:sp>
      <p:sp>
        <p:nvSpPr>
          <p:cNvPr id="7" name="Text 4"/>
          <p:cNvSpPr/>
          <p:nvPr/>
        </p:nvSpPr>
        <p:spPr>
          <a:xfrm>
            <a:off x="7498080" y="2468880"/>
            <a:ext cx="4206240" cy="1188720"/>
          </a:xfrm>
          <a:prstGeom prst="rect">
            <a:avLst/>
          </a:prstGeom>
          <a:noFill/>
          <a:ln/>
        </p:spPr>
        <p:txBody>
          <a:bodyPr wrap="square" lIns="0" tIns="0" rIns="0" bIns="0" rtlCol="0" anchor="ctr"/>
          <a:lstStyle/>
          <a:p>
            <a:pPr algn="r" indent="0" marL="0">
              <a:buNone/>
            </a:pPr>
            <a:r>
              <a:rPr lang="en-US" sz="7800" b="1" dirty="0">
                <a:solidFill>
                  <a:srgbClr val="C49A2B"/>
                </a:solidFill>
                <a:latin typeface="Calibri" pitchFamily="34" charset="0"/>
                <a:ea typeface="Calibri" pitchFamily="34" charset="-122"/>
                <a:cs typeface="Calibri" pitchFamily="34" charset="-120"/>
              </a:rPr>
              <a:t>$41.7M</a:t>
            </a:r>
            <a:endParaRPr lang="en-US" sz="7800" dirty="0"/>
          </a:p>
        </p:txBody>
      </p:sp>
      <p:sp>
        <p:nvSpPr>
          <p:cNvPr id="8" name="Text 5"/>
          <p:cNvSpPr/>
          <p:nvPr/>
        </p:nvSpPr>
        <p:spPr>
          <a:xfrm>
            <a:off x="7498080" y="3931920"/>
            <a:ext cx="4206240" cy="365760"/>
          </a:xfrm>
          <a:prstGeom prst="rect">
            <a:avLst/>
          </a:prstGeom>
          <a:noFill/>
          <a:ln/>
        </p:spPr>
        <p:txBody>
          <a:bodyPr wrap="square" lIns="0" tIns="0" rIns="0" bIns="0" rtlCol="0" anchor="ctr"/>
          <a:lstStyle/>
          <a:p>
            <a:pPr rtl="1" algn="r" indent="0" marL="0">
              <a:buNone/>
            </a:pPr>
            <a:r>
              <a:rPr lang="en-US" sz="1300" b="1" dirty="0">
                <a:solidFill>
                  <a:srgbClr val="0F2745"/>
                </a:solidFill>
                <a:latin typeface="Tajawal" pitchFamily="34" charset="0"/>
                <a:ea typeface="Tajawal" pitchFamily="34" charset="-122"/>
                <a:cs typeface="Tajawal" pitchFamily="34" charset="-120"/>
              </a:rPr>
              <a:t>سيناريو الأساس متحفّظ.</a:t>
            </a:r>
            <a:endParaRPr lang="en-US" sz="1300" dirty="0"/>
          </a:p>
        </p:txBody>
      </p:sp>
      <p:sp>
        <p:nvSpPr>
          <p:cNvPr id="9" name="Text 6"/>
          <p:cNvSpPr/>
          <p:nvPr/>
        </p:nvSpPr>
        <p:spPr>
          <a:xfrm>
            <a:off x="7498080" y="4297680"/>
            <a:ext cx="4206240" cy="822960"/>
          </a:xfrm>
          <a:prstGeom prst="rect">
            <a:avLst/>
          </a:prstGeom>
          <a:noFill/>
          <a:ln/>
        </p:spPr>
        <p:txBody>
          <a:bodyPr wrap="square" lIns="0" tIns="0" rIns="0" bIns="0" rtlCol="0" anchor="ctr"/>
          <a:lstStyle/>
          <a:p>
            <a:pPr rtl="1" algn="r" indent="0" marL="0">
              <a:lnSpc>
                <a:spcPts val="2000"/>
              </a:lnSpc>
              <a:buNone/>
            </a:pPr>
            <a:r>
              <a:rPr lang="en-US" sz="1100" dirty="0">
                <a:solidFill>
                  <a:srgbClr val="3D4A5C"/>
                </a:solidFill>
                <a:latin typeface="Tajawal" pitchFamily="34" charset="0"/>
                <a:ea typeface="Tajawal" pitchFamily="34" charset="-122"/>
                <a:cs typeface="Tajawal" pitchFamily="34" charset="-120"/>
              </a:rPr>
              <a:t>السيناريو الطموح (LCA كمعمارية سيادية إقليمية رئيسية): 95–130 مليون $ قيمة سنوية.</a:t>
            </a:r>
            <a:endParaRPr lang="en-US" sz="1100" dirty="0"/>
          </a:p>
        </p:txBody>
      </p:sp>
      <p:sp>
        <p:nvSpPr>
          <p:cNvPr id="10" name="Text 7"/>
          <p:cNvSpPr/>
          <p:nvPr/>
        </p:nvSpPr>
        <p:spPr>
          <a:xfrm>
            <a:off x="7498080" y="5120640"/>
            <a:ext cx="4206240" cy="914400"/>
          </a:xfrm>
          <a:prstGeom prst="rect">
            <a:avLst/>
          </a:prstGeom>
          <a:noFill/>
          <a:ln/>
        </p:spPr>
        <p:txBody>
          <a:bodyPr wrap="square" lIns="0" tIns="0" rIns="0" bIns="0" rtlCol="0" anchor="ctr"/>
          <a:lstStyle/>
          <a:p>
            <a:pPr rtl="1" algn="r" indent="0" marL="0">
              <a:lnSpc>
                <a:spcPts val="2000"/>
              </a:lnSpc>
              <a:buNone/>
            </a:pPr>
            <a:r>
              <a:rPr lang="en-US" sz="1100" dirty="0">
                <a:solidFill>
                  <a:srgbClr val="3D4A5C"/>
                </a:solidFill>
                <a:latin typeface="Tajawal" pitchFamily="34" charset="0"/>
                <a:ea typeface="Tajawal" pitchFamily="34" charset="-122"/>
                <a:cs typeface="Tajawal" pitchFamily="34" charset="-120"/>
              </a:rPr>
              <a:t>الهامش الإرشادي: 70–80٪ على الترخيص  ·  55–65٪ على الخدمة المُدارة.</a:t>
            </a:r>
            <a:endParaRPr lang="en-US" sz="1100" dirty="0"/>
          </a:p>
        </p:txBody>
      </p:sp>
      <p:sp>
        <p:nvSpPr>
          <p:cNvPr id="11" name="Text 8"/>
          <p:cNvSpPr/>
          <p:nvPr/>
        </p:nvSpPr>
        <p:spPr>
          <a:xfrm>
            <a:off x="365760" y="6492240"/>
            <a:ext cx="3657600" cy="274320"/>
          </a:xfrm>
          <a:prstGeom prst="rect">
            <a:avLst/>
          </a:prstGeom>
          <a:noFill/>
          <a:ln/>
        </p:spPr>
        <p:txBody>
          <a:bodyPr wrap="square" lIns="0" tIns="0" rIns="0" bIns="0" rtlCol="0" anchor="ctr"/>
          <a:lstStyle/>
          <a:p>
            <a:pPr rtl="1" algn="l" indent="0" marL="0">
              <a:buNone/>
            </a:pPr>
            <a:r>
              <a:rPr lang="en-US" sz="800" dirty="0">
                <a:solidFill>
                  <a:srgbClr val="8A96A7"/>
                </a:solidFill>
                <a:latin typeface="Tajawal" pitchFamily="34" charset="0"/>
                <a:ea typeface="Tajawal" pitchFamily="34" charset="-122"/>
                <a:cs typeface="Tajawal" pitchFamily="34" charset="-120"/>
              </a:rPr>
              <a:t>ARKANE AI · سرّي</a:t>
            </a:r>
            <a:endParaRPr lang="en-US" sz="800" dirty="0"/>
          </a:p>
        </p:txBody>
      </p:sp>
      <p:sp>
        <p:nvSpPr>
          <p:cNvPr id="12" name="Text 9"/>
          <p:cNvSpPr/>
          <p:nvPr/>
        </p:nvSpPr>
        <p:spPr>
          <a:xfrm>
            <a:off x="11430000" y="6492240"/>
            <a:ext cx="548640" cy="274320"/>
          </a:xfrm>
          <a:prstGeom prst="rect">
            <a:avLst/>
          </a:prstGeom>
          <a:noFill/>
          <a:ln/>
        </p:spPr>
        <p:txBody>
          <a:bodyPr wrap="square" lIns="0" tIns="0" rIns="0" bIns="0" rtlCol="0" anchor="ctr"/>
          <a:lstStyle/>
          <a:p>
            <a:pPr algn="r" indent="0" marL="0">
              <a:buNone/>
            </a:pPr>
            <a:r>
              <a:rPr lang="en-US" sz="800" dirty="0">
                <a:solidFill>
                  <a:srgbClr val="8A96A7"/>
                </a:solidFill>
                <a:latin typeface="Calibri" pitchFamily="34" charset="0"/>
                <a:ea typeface="Calibri" pitchFamily="34" charset="-122"/>
                <a:cs typeface="Calibri" pitchFamily="34" charset="-120"/>
              </a:rPr>
              <a:t>10 / 18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47120" y="365760"/>
            <a:ext cx="640080" cy="365760"/>
          </a:xfrm>
          <a:prstGeom prst="rect">
            <a:avLst/>
          </a:prstGeom>
          <a:noFill/>
          <a:ln/>
        </p:spPr>
        <p:txBody>
          <a:bodyPr wrap="square" lIns="0" tIns="0" rIns="0" bIns="0" rtlCol="0" anchor="ctr"/>
          <a:lstStyle/>
          <a:p>
            <a:pPr algn="r" indent="0" marL="0">
              <a:buNone/>
            </a:pPr>
            <a:r>
              <a:rPr lang="en-US" sz="1400" b="1" dirty="0">
                <a:solidFill>
                  <a:srgbClr val="C49A2B"/>
                </a:solidFill>
                <a:latin typeface="Calibri" pitchFamily="34" charset="0"/>
                <a:ea typeface="Calibri" pitchFamily="34" charset="-122"/>
                <a:cs typeface="Calibri" pitchFamily="34" charset="-120"/>
              </a:rPr>
              <a:t>12</a:t>
            </a:r>
            <a:endParaRPr lang="en-US" sz="1400" dirty="0"/>
          </a:p>
        </p:txBody>
      </p:sp>
      <p:sp>
        <p:nvSpPr>
          <p:cNvPr id="3" name="Text 1"/>
          <p:cNvSpPr/>
          <p:nvPr/>
        </p:nvSpPr>
        <p:spPr>
          <a:xfrm>
            <a:off x="457200" y="685800"/>
            <a:ext cx="11247120" cy="731520"/>
          </a:xfrm>
          <a:prstGeom prst="rect">
            <a:avLst/>
          </a:prstGeom>
          <a:noFill/>
          <a:ln/>
        </p:spPr>
        <p:txBody>
          <a:bodyPr wrap="square" lIns="0" tIns="0" rIns="0" bIns="0" rtlCol="0" anchor="ctr"/>
          <a:lstStyle/>
          <a:p>
            <a:pPr rtl="1" algn="r" indent="0" marL="0">
              <a:buNone/>
            </a:pPr>
            <a:r>
              <a:rPr lang="en-US" sz="3600" b="1" dirty="0">
                <a:solidFill>
                  <a:srgbClr val="0F2745"/>
                </a:solidFill>
                <a:latin typeface="Tajawal" pitchFamily="34" charset="0"/>
                <a:ea typeface="Tajawal" pitchFamily="34" charset="-122"/>
                <a:cs typeface="Tajawal" pitchFamily="34" charset="-120"/>
              </a:rPr>
              <a:t>المخاطر والمعالجة</a:t>
            </a:r>
            <a:endParaRPr lang="en-US" sz="3600" dirty="0"/>
          </a:p>
        </p:txBody>
      </p:sp>
      <p:sp>
        <p:nvSpPr>
          <p:cNvPr id="4" name="Shape 2"/>
          <p:cNvSpPr/>
          <p:nvPr/>
        </p:nvSpPr>
        <p:spPr>
          <a:xfrm>
            <a:off x="10789920" y="1417320"/>
            <a:ext cx="914400" cy="45720"/>
          </a:xfrm>
          <a:prstGeom prst="rect">
            <a:avLst/>
          </a:prstGeom>
          <a:solidFill>
            <a:srgbClr val="C49A2B"/>
          </a:solidFill>
          <a:ln/>
        </p:spPr>
      </p:sp>
      <p:sp>
        <p:nvSpPr>
          <p:cNvPr id="5" name="Shape 3"/>
          <p:cNvSpPr/>
          <p:nvPr/>
        </p:nvSpPr>
        <p:spPr>
          <a:xfrm>
            <a:off x="6263640" y="1737360"/>
            <a:ext cx="5440680" cy="1280160"/>
          </a:xfrm>
          <a:prstGeom prst="roundRect">
            <a:avLst>
              <a:gd name="adj" fmla="val 4286"/>
            </a:avLst>
          </a:prstGeom>
          <a:solidFill>
            <a:srgbClr val="F4F6F8"/>
          </a:solidFill>
          <a:ln w="6350">
            <a:solidFill>
              <a:srgbClr val="DEE3EA"/>
            </a:solidFill>
            <a:prstDash val="solid"/>
          </a:ln>
        </p:spPr>
      </p:sp>
      <p:sp>
        <p:nvSpPr>
          <p:cNvPr id="6" name="Shape 4"/>
          <p:cNvSpPr/>
          <p:nvPr/>
        </p:nvSpPr>
        <p:spPr>
          <a:xfrm>
            <a:off x="10835640" y="1901952"/>
            <a:ext cx="640080" cy="274320"/>
          </a:xfrm>
          <a:prstGeom prst="roundRect">
            <a:avLst>
              <a:gd name="adj" fmla="val 13333"/>
            </a:avLst>
          </a:prstGeom>
          <a:solidFill>
            <a:srgbClr val="C49A2B"/>
          </a:solidFill>
          <a:ln/>
        </p:spPr>
      </p:sp>
      <p:sp>
        <p:nvSpPr>
          <p:cNvPr id="7" name="Text 5"/>
          <p:cNvSpPr/>
          <p:nvPr/>
        </p:nvSpPr>
        <p:spPr>
          <a:xfrm>
            <a:off x="10835640" y="1901952"/>
            <a:ext cx="6400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Tajawal" pitchFamily="34" charset="0"/>
                <a:ea typeface="Tajawal" pitchFamily="34" charset="-122"/>
                <a:cs typeface="Tajawal" pitchFamily="34" charset="-120"/>
              </a:rPr>
              <a:t>متوسط</a:t>
            </a:r>
            <a:endParaRPr lang="en-US" sz="900" dirty="0"/>
          </a:p>
        </p:txBody>
      </p:sp>
      <p:sp>
        <p:nvSpPr>
          <p:cNvPr id="8" name="Text 6"/>
          <p:cNvSpPr/>
          <p:nvPr/>
        </p:nvSpPr>
        <p:spPr>
          <a:xfrm>
            <a:off x="6492240" y="1847088"/>
            <a:ext cx="4297680" cy="457200"/>
          </a:xfrm>
          <a:prstGeom prst="rect">
            <a:avLst/>
          </a:prstGeom>
          <a:noFill/>
          <a:ln/>
        </p:spPr>
        <p:txBody>
          <a:bodyPr wrap="square" lIns="0" tIns="0" rIns="0" bIns="0" rtlCol="0" anchor="ctr"/>
          <a:lstStyle/>
          <a:p>
            <a:pPr rtl="1" algn="r" indent="0" marL="0">
              <a:buNone/>
            </a:pPr>
            <a:r>
              <a:rPr lang="en-US" sz="1300" b="1" dirty="0">
                <a:solidFill>
                  <a:srgbClr val="0F2745"/>
                </a:solidFill>
                <a:latin typeface="Tajawal" pitchFamily="34" charset="0"/>
                <a:ea typeface="Tajawal" pitchFamily="34" charset="-122"/>
                <a:cs typeface="Tajawal" pitchFamily="34" charset="-120"/>
              </a:rPr>
              <a:t>سلوك التوسّع غير معلوم فوق 7B باراميتر</a:t>
            </a:r>
            <a:endParaRPr lang="en-US" sz="1300" dirty="0"/>
          </a:p>
        </p:txBody>
      </p:sp>
      <p:sp>
        <p:nvSpPr>
          <p:cNvPr id="9" name="Text 7"/>
          <p:cNvSpPr/>
          <p:nvPr/>
        </p:nvSpPr>
        <p:spPr>
          <a:xfrm>
            <a:off x="6492240" y="2286000"/>
            <a:ext cx="4937760" cy="685800"/>
          </a:xfrm>
          <a:prstGeom prst="rect">
            <a:avLst/>
          </a:prstGeom>
          <a:noFill/>
          <a:ln/>
        </p:spPr>
        <p:txBody>
          <a:bodyPr wrap="square" lIns="0" tIns="0" rIns="0" bIns="0" rtlCol="0" anchor="ctr"/>
          <a:lstStyle/>
          <a:p>
            <a:pPr rtl="1" algn="r" indent="0" marL="0">
              <a:lnSpc>
                <a:spcPts val="1600"/>
              </a:lnSpc>
              <a:buNone/>
            </a:pPr>
            <a:r>
              <a:rPr lang="en-US" sz="1000" dirty="0">
                <a:solidFill>
                  <a:srgbClr val="3D4A5C"/>
                </a:solidFill>
                <a:latin typeface="Tajawal" pitchFamily="34" charset="0"/>
                <a:ea typeface="Tajawal" pitchFamily="34" charset="-122"/>
                <a:cs typeface="Tajawal" pitchFamily="34" charset="-120"/>
              </a:rPr>
              <a:t>تجارب قوانين توسّع مُدمجة  ·  شراكة حوسبة مع سحابة سيادية إقليمية  ·  تعاون أكاديمي للتحقّق</a:t>
            </a:r>
            <a:endParaRPr lang="en-US" sz="1000" dirty="0"/>
          </a:p>
        </p:txBody>
      </p:sp>
      <p:sp>
        <p:nvSpPr>
          <p:cNvPr id="10" name="Shape 8"/>
          <p:cNvSpPr/>
          <p:nvPr/>
        </p:nvSpPr>
        <p:spPr>
          <a:xfrm>
            <a:off x="457200" y="1737360"/>
            <a:ext cx="5440680" cy="1280160"/>
          </a:xfrm>
          <a:prstGeom prst="roundRect">
            <a:avLst>
              <a:gd name="adj" fmla="val 4286"/>
            </a:avLst>
          </a:prstGeom>
          <a:solidFill>
            <a:srgbClr val="F4F6F8"/>
          </a:solidFill>
          <a:ln w="6350">
            <a:solidFill>
              <a:srgbClr val="DEE3EA"/>
            </a:solidFill>
            <a:prstDash val="solid"/>
          </a:ln>
        </p:spPr>
      </p:sp>
      <p:sp>
        <p:nvSpPr>
          <p:cNvPr id="11" name="Shape 9"/>
          <p:cNvSpPr/>
          <p:nvPr/>
        </p:nvSpPr>
        <p:spPr>
          <a:xfrm>
            <a:off x="5029200" y="1901952"/>
            <a:ext cx="640080" cy="274320"/>
          </a:xfrm>
          <a:prstGeom prst="roundRect">
            <a:avLst>
              <a:gd name="adj" fmla="val 13333"/>
            </a:avLst>
          </a:prstGeom>
          <a:solidFill>
            <a:srgbClr val="C49A2B"/>
          </a:solidFill>
          <a:ln/>
        </p:spPr>
      </p:sp>
      <p:sp>
        <p:nvSpPr>
          <p:cNvPr id="12" name="Text 10"/>
          <p:cNvSpPr/>
          <p:nvPr/>
        </p:nvSpPr>
        <p:spPr>
          <a:xfrm>
            <a:off x="5029200" y="1901952"/>
            <a:ext cx="6400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Tajawal" pitchFamily="34" charset="0"/>
                <a:ea typeface="Tajawal" pitchFamily="34" charset="-122"/>
                <a:cs typeface="Tajawal" pitchFamily="34" charset="-120"/>
              </a:rPr>
              <a:t>متوسط</a:t>
            </a:r>
            <a:endParaRPr lang="en-US" sz="900" dirty="0"/>
          </a:p>
        </p:txBody>
      </p:sp>
      <p:sp>
        <p:nvSpPr>
          <p:cNvPr id="13" name="Text 11"/>
          <p:cNvSpPr/>
          <p:nvPr/>
        </p:nvSpPr>
        <p:spPr>
          <a:xfrm>
            <a:off x="685800" y="1847088"/>
            <a:ext cx="4297680" cy="457200"/>
          </a:xfrm>
          <a:prstGeom prst="rect">
            <a:avLst/>
          </a:prstGeom>
          <a:noFill/>
          <a:ln/>
        </p:spPr>
        <p:txBody>
          <a:bodyPr wrap="square" lIns="0" tIns="0" rIns="0" bIns="0" rtlCol="0" anchor="ctr"/>
          <a:lstStyle/>
          <a:p>
            <a:pPr rtl="1" algn="r" indent="0" marL="0">
              <a:buNone/>
            </a:pPr>
            <a:r>
              <a:rPr lang="en-US" sz="1300" b="1" dirty="0">
                <a:solidFill>
                  <a:srgbClr val="0F2745"/>
                </a:solidFill>
                <a:latin typeface="Tajawal" pitchFamily="34" charset="0"/>
                <a:ea typeface="Tajawal" pitchFamily="34" charset="-122"/>
                <a:cs typeface="Tajawal" pitchFamily="34" charset="-120"/>
              </a:rPr>
              <a:t>جودة المُرمِّز الصرفي القبلي كعنق زجاجة</a:t>
            </a:r>
            <a:endParaRPr lang="en-US" sz="1300" dirty="0"/>
          </a:p>
        </p:txBody>
      </p:sp>
      <p:sp>
        <p:nvSpPr>
          <p:cNvPr id="14" name="Text 12"/>
          <p:cNvSpPr/>
          <p:nvPr/>
        </p:nvSpPr>
        <p:spPr>
          <a:xfrm>
            <a:off x="685800" y="2286000"/>
            <a:ext cx="4937760" cy="685800"/>
          </a:xfrm>
          <a:prstGeom prst="rect">
            <a:avLst/>
          </a:prstGeom>
          <a:noFill/>
          <a:ln/>
        </p:spPr>
        <p:txBody>
          <a:bodyPr wrap="square" lIns="0" tIns="0" rIns="0" bIns="0" rtlCol="0" anchor="ctr"/>
          <a:lstStyle/>
          <a:p>
            <a:pPr rtl="1" algn="r" indent="0" marL="0">
              <a:lnSpc>
                <a:spcPts val="1600"/>
              </a:lnSpc>
              <a:buNone/>
            </a:pPr>
            <a:r>
              <a:rPr lang="en-US" sz="1000" dirty="0">
                <a:solidFill>
                  <a:srgbClr val="3D4A5C"/>
                </a:solidFill>
                <a:latin typeface="Tajawal" pitchFamily="34" charset="0"/>
                <a:ea typeface="Tajawal" pitchFamily="34" charset="-122"/>
                <a:cs typeface="Tajawal" pitchFamily="34" charset="-120"/>
              </a:rPr>
              <a:t>وحدة تجزئة مُتعلَّمة  ·  مجموعة تدريب من المعايير القرآنية والشجرية  ·  هدف 96–97٪ على الفصحى</a:t>
            </a:r>
            <a:endParaRPr lang="en-US" sz="1000" dirty="0"/>
          </a:p>
        </p:txBody>
      </p:sp>
      <p:sp>
        <p:nvSpPr>
          <p:cNvPr id="15" name="Shape 13"/>
          <p:cNvSpPr/>
          <p:nvPr/>
        </p:nvSpPr>
        <p:spPr>
          <a:xfrm>
            <a:off x="6263640" y="3154680"/>
            <a:ext cx="5440680" cy="1280160"/>
          </a:xfrm>
          <a:prstGeom prst="roundRect">
            <a:avLst>
              <a:gd name="adj" fmla="val 4286"/>
            </a:avLst>
          </a:prstGeom>
          <a:solidFill>
            <a:srgbClr val="F4F6F8"/>
          </a:solidFill>
          <a:ln w="6350">
            <a:solidFill>
              <a:srgbClr val="DEE3EA"/>
            </a:solidFill>
            <a:prstDash val="solid"/>
          </a:ln>
        </p:spPr>
      </p:sp>
      <p:sp>
        <p:nvSpPr>
          <p:cNvPr id="16" name="Shape 14"/>
          <p:cNvSpPr/>
          <p:nvPr/>
        </p:nvSpPr>
        <p:spPr>
          <a:xfrm>
            <a:off x="10835640" y="3319272"/>
            <a:ext cx="640080" cy="274320"/>
          </a:xfrm>
          <a:prstGeom prst="roundRect">
            <a:avLst>
              <a:gd name="adj" fmla="val 13333"/>
            </a:avLst>
          </a:prstGeom>
          <a:solidFill>
            <a:srgbClr val="C53030"/>
          </a:solidFill>
          <a:ln/>
        </p:spPr>
      </p:sp>
      <p:sp>
        <p:nvSpPr>
          <p:cNvPr id="17" name="Text 15"/>
          <p:cNvSpPr/>
          <p:nvPr/>
        </p:nvSpPr>
        <p:spPr>
          <a:xfrm>
            <a:off x="10835640" y="3319272"/>
            <a:ext cx="6400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Tajawal" pitchFamily="34" charset="0"/>
                <a:ea typeface="Tajawal" pitchFamily="34" charset="-122"/>
                <a:cs typeface="Tajawal" pitchFamily="34" charset="-120"/>
              </a:rPr>
              <a:t>عالٍ</a:t>
            </a:r>
            <a:endParaRPr lang="en-US" sz="900" dirty="0"/>
          </a:p>
        </p:txBody>
      </p:sp>
      <p:sp>
        <p:nvSpPr>
          <p:cNvPr id="18" name="Text 16"/>
          <p:cNvSpPr/>
          <p:nvPr/>
        </p:nvSpPr>
        <p:spPr>
          <a:xfrm>
            <a:off x="6492240" y="3264408"/>
            <a:ext cx="4297680" cy="457200"/>
          </a:xfrm>
          <a:prstGeom prst="rect">
            <a:avLst/>
          </a:prstGeom>
          <a:noFill/>
          <a:ln/>
        </p:spPr>
        <p:txBody>
          <a:bodyPr wrap="square" lIns="0" tIns="0" rIns="0" bIns="0" rtlCol="0" anchor="ctr"/>
          <a:lstStyle/>
          <a:p>
            <a:pPr rtl="1" algn="r" indent="0" marL="0">
              <a:buNone/>
            </a:pPr>
            <a:r>
              <a:rPr lang="en-US" sz="1300" b="1" dirty="0">
                <a:solidFill>
                  <a:srgbClr val="0F2745"/>
                </a:solidFill>
                <a:latin typeface="Tajawal" pitchFamily="34" charset="0"/>
                <a:ea typeface="Tajawal" pitchFamily="34" charset="-122"/>
                <a:cs typeface="Tajawal" pitchFamily="34" charset="-120"/>
              </a:rPr>
              <a:t>جهة سيادية إقليمية تبني داخلياً وتتجاوز LCA</a:t>
            </a:r>
            <a:endParaRPr lang="en-US" sz="1300" dirty="0"/>
          </a:p>
        </p:txBody>
      </p:sp>
      <p:sp>
        <p:nvSpPr>
          <p:cNvPr id="19" name="Text 17"/>
          <p:cNvSpPr/>
          <p:nvPr/>
        </p:nvSpPr>
        <p:spPr>
          <a:xfrm>
            <a:off x="6492240" y="3703320"/>
            <a:ext cx="4937760" cy="685800"/>
          </a:xfrm>
          <a:prstGeom prst="rect">
            <a:avLst/>
          </a:prstGeom>
          <a:noFill/>
          <a:ln/>
        </p:spPr>
        <p:txBody>
          <a:bodyPr wrap="square" lIns="0" tIns="0" rIns="0" bIns="0" rtlCol="0" anchor="ctr"/>
          <a:lstStyle/>
          <a:p>
            <a:pPr rtl="1" algn="r" indent="0" marL="0">
              <a:lnSpc>
                <a:spcPts val="1600"/>
              </a:lnSpc>
              <a:buNone/>
            </a:pPr>
            <a:r>
              <a:rPr lang="en-US" sz="1000" dirty="0">
                <a:solidFill>
                  <a:srgbClr val="3D4A5C"/>
                </a:solidFill>
                <a:latin typeface="Tajawal" pitchFamily="34" charset="0"/>
                <a:ea typeface="Tajawal" pitchFamily="34" charset="-122"/>
                <a:cs typeface="Tajawal" pitchFamily="34" charset="-120"/>
              </a:rPr>
              <a:t>التموضع كشريك IP من اليوم الأول  ·  هيكلة الحوار الأول كترخيص/حقوق ملكية  ·  خندق براءات يحجب الالتفاف</a:t>
            </a:r>
            <a:endParaRPr lang="en-US" sz="1000" dirty="0"/>
          </a:p>
        </p:txBody>
      </p:sp>
      <p:sp>
        <p:nvSpPr>
          <p:cNvPr id="20" name="Shape 18"/>
          <p:cNvSpPr/>
          <p:nvPr/>
        </p:nvSpPr>
        <p:spPr>
          <a:xfrm>
            <a:off x="457200" y="3154680"/>
            <a:ext cx="5440680" cy="1280160"/>
          </a:xfrm>
          <a:prstGeom prst="roundRect">
            <a:avLst>
              <a:gd name="adj" fmla="val 4286"/>
            </a:avLst>
          </a:prstGeom>
          <a:solidFill>
            <a:srgbClr val="F4F6F8"/>
          </a:solidFill>
          <a:ln w="6350">
            <a:solidFill>
              <a:srgbClr val="DEE3EA"/>
            </a:solidFill>
            <a:prstDash val="solid"/>
          </a:ln>
        </p:spPr>
      </p:sp>
      <p:sp>
        <p:nvSpPr>
          <p:cNvPr id="21" name="Shape 19"/>
          <p:cNvSpPr/>
          <p:nvPr/>
        </p:nvSpPr>
        <p:spPr>
          <a:xfrm>
            <a:off x="5029200" y="3319272"/>
            <a:ext cx="640080" cy="274320"/>
          </a:xfrm>
          <a:prstGeom prst="roundRect">
            <a:avLst>
              <a:gd name="adj" fmla="val 13333"/>
            </a:avLst>
          </a:prstGeom>
          <a:solidFill>
            <a:srgbClr val="C49A2B"/>
          </a:solidFill>
          <a:ln/>
        </p:spPr>
      </p:sp>
      <p:sp>
        <p:nvSpPr>
          <p:cNvPr id="22" name="Text 20"/>
          <p:cNvSpPr/>
          <p:nvPr/>
        </p:nvSpPr>
        <p:spPr>
          <a:xfrm>
            <a:off x="5029200" y="3319272"/>
            <a:ext cx="6400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Tajawal" pitchFamily="34" charset="0"/>
                <a:ea typeface="Tajawal" pitchFamily="34" charset="-122"/>
                <a:cs typeface="Tajawal" pitchFamily="34" charset="-120"/>
              </a:rPr>
              <a:t>متوسط</a:t>
            </a:r>
            <a:endParaRPr lang="en-US" sz="900" dirty="0"/>
          </a:p>
        </p:txBody>
      </p:sp>
      <p:sp>
        <p:nvSpPr>
          <p:cNvPr id="23" name="Text 21"/>
          <p:cNvSpPr/>
          <p:nvPr/>
        </p:nvSpPr>
        <p:spPr>
          <a:xfrm>
            <a:off x="685800" y="3264408"/>
            <a:ext cx="4297680" cy="457200"/>
          </a:xfrm>
          <a:prstGeom prst="rect">
            <a:avLst/>
          </a:prstGeom>
          <a:noFill/>
          <a:ln/>
        </p:spPr>
        <p:txBody>
          <a:bodyPr wrap="square" lIns="0" tIns="0" rIns="0" bIns="0" rtlCol="0" anchor="ctr"/>
          <a:lstStyle/>
          <a:p>
            <a:pPr rtl="1" algn="r" indent="0" marL="0">
              <a:buNone/>
            </a:pPr>
            <a:r>
              <a:rPr lang="en-US" sz="1300" b="1" dirty="0">
                <a:solidFill>
                  <a:srgbClr val="0F2745"/>
                </a:solidFill>
                <a:latin typeface="Tajawal" pitchFamily="34" charset="0"/>
                <a:ea typeface="Tajawal" pitchFamily="34" charset="-122"/>
                <a:cs typeface="Tajawal" pitchFamily="34" charset="-120"/>
              </a:rPr>
              <a:t>المختبرات العالمية تحلّ العربية بتوسّع البيانات</a:t>
            </a:r>
            <a:endParaRPr lang="en-US" sz="1300" dirty="0"/>
          </a:p>
        </p:txBody>
      </p:sp>
      <p:sp>
        <p:nvSpPr>
          <p:cNvPr id="24" name="Text 22"/>
          <p:cNvSpPr/>
          <p:nvPr/>
        </p:nvSpPr>
        <p:spPr>
          <a:xfrm>
            <a:off x="685800" y="3703320"/>
            <a:ext cx="4937760" cy="685800"/>
          </a:xfrm>
          <a:prstGeom prst="rect">
            <a:avLst/>
          </a:prstGeom>
          <a:noFill/>
          <a:ln/>
        </p:spPr>
        <p:txBody>
          <a:bodyPr wrap="square" lIns="0" tIns="0" rIns="0" bIns="0" rtlCol="0" anchor="ctr"/>
          <a:lstStyle/>
          <a:p>
            <a:pPr rtl="1" algn="r" indent="0" marL="0">
              <a:lnSpc>
                <a:spcPts val="1600"/>
              </a:lnSpc>
              <a:buNone/>
            </a:pPr>
            <a:r>
              <a:rPr lang="en-US" sz="1000" dirty="0">
                <a:solidFill>
                  <a:srgbClr val="3D4A5C"/>
                </a:solidFill>
                <a:latin typeface="Tajawal" pitchFamily="34" charset="0"/>
                <a:ea typeface="Tajawal" pitchFamily="34" charset="-122"/>
                <a:cs typeface="Tajawal" pitchFamily="34" charset="-120"/>
              </a:rPr>
              <a:t>ضريبة التقطيع بنيوية ـ تظلّ بغض النظر عن حجم البيانات  ·  مطالبات IP على المعمارية لا على البيانات</a:t>
            </a:r>
            <a:endParaRPr lang="en-US" sz="1000" dirty="0"/>
          </a:p>
        </p:txBody>
      </p:sp>
      <p:sp>
        <p:nvSpPr>
          <p:cNvPr id="25" name="Shape 23"/>
          <p:cNvSpPr/>
          <p:nvPr/>
        </p:nvSpPr>
        <p:spPr>
          <a:xfrm>
            <a:off x="6263640" y="4572000"/>
            <a:ext cx="5440680" cy="1280160"/>
          </a:xfrm>
          <a:prstGeom prst="roundRect">
            <a:avLst>
              <a:gd name="adj" fmla="val 4286"/>
            </a:avLst>
          </a:prstGeom>
          <a:solidFill>
            <a:srgbClr val="F4F6F8"/>
          </a:solidFill>
          <a:ln w="6350">
            <a:solidFill>
              <a:srgbClr val="DEE3EA"/>
            </a:solidFill>
            <a:prstDash val="solid"/>
          </a:ln>
        </p:spPr>
      </p:sp>
      <p:sp>
        <p:nvSpPr>
          <p:cNvPr id="26" name="Shape 24"/>
          <p:cNvSpPr/>
          <p:nvPr/>
        </p:nvSpPr>
        <p:spPr>
          <a:xfrm>
            <a:off x="10835640" y="4736592"/>
            <a:ext cx="640080" cy="274320"/>
          </a:xfrm>
          <a:prstGeom prst="roundRect">
            <a:avLst>
              <a:gd name="adj" fmla="val 13333"/>
            </a:avLst>
          </a:prstGeom>
          <a:solidFill>
            <a:srgbClr val="C49A2B"/>
          </a:solidFill>
          <a:ln/>
        </p:spPr>
      </p:sp>
      <p:sp>
        <p:nvSpPr>
          <p:cNvPr id="27" name="Text 25"/>
          <p:cNvSpPr/>
          <p:nvPr/>
        </p:nvSpPr>
        <p:spPr>
          <a:xfrm>
            <a:off x="10835640" y="4736592"/>
            <a:ext cx="6400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Tajawal" pitchFamily="34" charset="0"/>
                <a:ea typeface="Tajawal" pitchFamily="34" charset="-122"/>
                <a:cs typeface="Tajawal" pitchFamily="34" charset="-120"/>
              </a:rPr>
              <a:t>متوسط</a:t>
            </a:r>
            <a:endParaRPr lang="en-US" sz="900" dirty="0"/>
          </a:p>
        </p:txBody>
      </p:sp>
      <p:sp>
        <p:nvSpPr>
          <p:cNvPr id="28" name="Text 26"/>
          <p:cNvSpPr/>
          <p:nvPr/>
        </p:nvSpPr>
        <p:spPr>
          <a:xfrm>
            <a:off x="6492240" y="4681728"/>
            <a:ext cx="4297680" cy="457200"/>
          </a:xfrm>
          <a:prstGeom prst="rect">
            <a:avLst/>
          </a:prstGeom>
          <a:noFill/>
          <a:ln/>
        </p:spPr>
        <p:txBody>
          <a:bodyPr wrap="square" lIns="0" tIns="0" rIns="0" bIns="0" rtlCol="0" anchor="ctr"/>
          <a:lstStyle/>
          <a:p>
            <a:pPr rtl="1" algn="r" indent="0" marL="0">
              <a:buNone/>
            </a:pPr>
            <a:r>
              <a:rPr lang="en-US" sz="1300" b="1" dirty="0">
                <a:solidFill>
                  <a:srgbClr val="0F2745"/>
                </a:solidFill>
                <a:latin typeface="Tajawal" pitchFamily="34" charset="0"/>
                <a:ea typeface="Tajawal" pitchFamily="34" charset="-122"/>
                <a:cs typeface="Tajawal" pitchFamily="34" charset="-120"/>
              </a:rPr>
              <a:t>اضطراب مالي / جيوسياسي إقليمي</a:t>
            </a:r>
            <a:endParaRPr lang="en-US" sz="1300" dirty="0"/>
          </a:p>
        </p:txBody>
      </p:sp>
      <p:sp>
        <p:nvSpPr>
          <p:cNvPr id="29" name="Text 27"/>
          <p:cNvSpPr/>
          <p:nvPr/>
        </p:nvSpPr>
        <p:spPr>
          <a:xfrm>
            <a:off x="6492240" y="5120640"/>
            <a:ext cx="4937760" cy="685800"/>
          </a:xfrm>
          <a:prstGeom prst="rect">
            <a:avLst/>
          </a:prstGeom>
          <a:noFill/>
          <a:ln/>
        </p:spPr>
        <p:txBody>
          <a:bodyPr wrap="square" lIns="0" tIns="0" rIns="0" bIns="0" rtlCol="0" anchor="ctr"/>
          <a:lstStyle/>
          <a:p>
            <a:pPr rtl="1" algn="r" indent="0" marL="0">
              <a:lnSpc>
                <a:spcPts val="1600"/>
              </a:lnSpc>
              <a:buNone/>
            </a:pPr>
            <a:r>
              <a:rPr lang="en-US" sz="1000" dirty="0">
                <a:solidFill>
                  <a:srgbClr val="3D4A5C"/>
                </a:solidFill>
                <a:latin typeface="Tajawal" pitchFamily="34" charset="0"/>
                <a:ea typeface="Tajawal" pitchFamily="34" charset="-122"/>
                <a:cs typeface="Tajawal" pitchFamily="34" charset="-120"/>
              </a:rPr>
              <a:t>تنويع النشر (الخليج رئيسي، الشرق الأوسط الأوسع ثانوي)  ·  مسار ترخيص IP عالمي  ·  إيرادات مرتبطة بمعالم</a:t>
            </a:r>
            <a:endParaRPr lang="en-US" sz="1000" dirty="0"/>
          </a:p>
        </p:txBody>
      </p:sp>
      <p:sp>
        <p:nvSpPr>
          <p:cNvPr id="30" name="Shape 28"/>
          <p:cNvSpPr/>
          <p:nvPr/>
        </p:nvSpPr>
        <p:spPr>
          <a:xfrm>
            <a:off x="457200" y="4572000"/>
            <a:ext cx="5440680" cy="1280160"/>
          </a:xfrm>
          <a:prstGeom prst="roundRect">
            <a:avLst>
              <a:gd name="adj" fmla="val 4286"/>
            </a:avLst>
          </a:prstGeom>
          <a:solidFill>
            <a:srgbClr val="F4F6F8"/>
          </a:solidFill>
          <a:ln w="6350">
            <a:solidFill>
              <a:srgbClr val="DEE3EA"/>
            </a:solidFill>
            <a:prstDash val="solid"/>
          </a:ln>
        </p:spPr>
      </p:sp>
      <p:sp>
        <p:nvSpPr>
          <p:cNvPr id="31" name="Shape 29"/>
          <p:cNvSpPr/>
          <p:nvPr/>
        </p:nvSpPr>
        <p:spPr>
          <a:xfrm>
            <a:off x="5029200" y="4736592"/>
            <a:ext cx="640080" cy="274320"/>
          </a:xfrm>
          <a:prstGeom prst="roundRect">
            <a:avLst>
              <a:gd name="adj" fmla="val 13333"/>
            </a:avLst>
          </a:prstGeom>
          <a:solidFill>
            <a:srgbClr val="C49A2B"/>
          </a:solidFill>
          <a:ln/>
        </p:spPr>
      </p:sp>
      <p:sp>
        <p:nvSpPr>
          <p:cNvPr id="32" name="Text 30"/>
          <p:cNvSpPr/>
          <p:nvPr/>
        </p:nvSpPr>
        <p:spPr>
          <a:xfrm>
            <a:off x="5029200" y="4736592"/>
            <a:ext cx="6400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Tajawal" pitchFamily="34" charset="0"/>
                <a:ea typeface="Tajawal" pitchFamily="34" charset="-122"/>
                <a:cs typeface="Tajawal" pitchFamily="34" charset="-120"/>
              </a:rPr>
              <a:t>متوسط</a:t>
            </a:r>
            <a:endParaRPr lang="en-US" sz="900" dirty="0"/>
          </a:p>
        </p:txBody>
      </p:sp>
      <p:sp>
        <p:nvSpPr>
          <p:cNvPr id="33" name="Text 31"/>
          <p:cNvSpPr/>
          <p:nvPr/>
        </p:nvSpPr>
        <p:spPr>
          <a:xfrm>
            <a:off x="685800" y="4681728"/>
            <a:ext cx="4297680" cy="457200"/>
          </a:xfrm>
          <a:prstGeom prst="rect">
            <a:avLst/>
          </a:prstGeom>
          <a:noFill/>
          <a:ln/>
        </p:spPr>
        <p:txBody>
          <a:bodyPr wrap="square" lIns="0" tIns="0" rIns="0" bIns="0" rtlCol="0" anchor="ctr"/>
          <a:lstStyle/>
          <a:p>
            <a:pPr rtl="1" algn="r" indent="0" marL="0">
              <a:buNone/>
            </a:pPr>
            <a:r>
              <a:rPr lang="en-US" sz="1300" b="1" dirty="0">
                <a:solidFill>
                  <a:srgbClr val="0F2745"/>
                </a:solidFill>
                <a:latin typeface="Tajawal" pitchFamily="34" charset="0"/>
                <a:ea typeface="Tajawal" pitchFamily="34" charset="-122"/>
                <a:cs typeface="Tajawal" pitchFamily="34" charset="-120"/>
              </a:rPr>
              <a:t>تركّز المخترع</a:t>
            </a:r>
            <a:endParaRPr lang="en-US" sz="1300" dirty="0"/>
          </a:p>
        </p:txBody>
      </p:sp>
      <p:sp>
        <p:nvSpPr>
          <p:cNvPr id="34" name="Text 32"/>
          <p:cNvSpPr/>
          <p:nvPr/>
        </p:nvSpPr>
        <p:spPr>
          <a:xfrm>
            <a:off x="685800" y="5120640"/>
            <a:ext cx="4937760" cy="685800"/>
          </a:xfrm>
          <a:prstGeom prst="rect">
            <a:avLst/>
          </a:prstGeom>
          <a:noFill/>
          <a:ln/>
        </p:spPr>
        <p:txBody>
          <a:bodyPr wrap="square" lIns="0" tIns="0" rIns="0" bIns="0" rtlCol="0" anchor="ctr"/>
          <a:lstStyle/>
          <a:p>
            <a:pPr rtl="1" algn="r" indent="0" marL="0">
              <a:lnSpc>
                <a:spcPts val="1600"/>
              </a:lnSpc>
              <a:buNone/>
            </a:pPr>
            <a:r>
              <a:rPr lang="en-US" sz="1000" dirty="0">
                <a:solidFill>
                  <a:srgbClr val="3D4A5C"/>
                </a:solidFill>
                <a:latin typeface="Tajawal" pitchFamily="34" charset="0"/>
                <a:ea typeface="Tajawal" pitchFamily="34" charset="-122"/>
                <a:cs typeface="Tajawal" pitchFamily="34" charset="-120"/>
              </a:rPr>
              <a:t>توثيق تقني شامل  ·  تحقّق مستقل من إمكانية إعادة الإنتاج  ·  قابلية نقل IP كاملة</a:t>
            </a:r>
            <a:endParaRPr lang="en-US" sz="1000" dirty="0"/>
          </a:p>
        </p:txBody>
      </p:sp>
      <p:sp>
        <p:nvSpPr>
          <p:cNvPr id="35" name="Text 33"/>
          <p:cNvSpPr/>
          <p:nvPr/>
        </p:nvSpPr>
        <p:spPr>
          <a:xfrm>
            <a:off x="365760" y="6492240"/>
            <a:ext cx="3657600" cy="274320"/>
          </a:xfrm>
          <a:prstGeom prst="rect">
            <a:avLst/>
          </a:prstGeom>
          <a:noFill/>
          <a:ln/>
        </p:spPr>
        <p:txBody>
          <a:bodyPr wrap="square" lIns="0" tIns="0" rIns="0" bIns="0" rtlCol="0" anchor="ctr"/>
          <a:lstStyle/>
          <a:p>
            <a:pPr rtl="1" algn="l" indent="0" marL="0">
              <a:buNone/>
            </a:pPr>
            <a:r>
              <a:rPr lang="en-US" sz="800" dirty="0">
                <a:solidFill>
                  <a:srgbClr val="8A96A7"/>
                </a:solidFill>
                <a:latin typeface="Tajawal" pitchFamily="34" charset="0"/>
                <a:ea typeface="Tajawal" pitchFamily="34" charset="-122"/>
                <a:cs typeface="Tajawal" pitchFamily="34" charset="-120"/>
              </a:rPr>
              <a:t>ARKANE AI · سرّي</a:t>
            </a:r>
            <a:endParaRPr lang="en-US" sz="800" dirty="0"/>
          </a:p>
        </p:txBody>
      </p:sp>
      <p:sp>
        <p:nvSpPr>
          <p:cNvPr id="36" name="Text 34"/>
          <p:cNvSpPr/>
          <p:nvPr/>
        </p:nvSpPr>
        <p:spPr>
          <a:xfrm>
            <a:off x="11430000" y="6492240"/>
            <a:ext cx="548640" cy="274320"/>
          </a:xfrm>
          <a:prstGeom prst="rect">
            <a:avLst/>
          </a:prstGeom>
          <a:noFill/>
          <a:ln/>
        </p:spPr>
        <p:txBody>
          <a:bodyPr wrap="square" lIns="0" tIns="0" rIns="0" bIns="0" rtlCol="0" anchor="ctr"/>
          <a:lstStyle/>
          <a:p>
            <a:pPr algn="r" indent="0" marL="0">
              <a:buNone/>
            </a:pPr>
            <a:r>
              <a:rPr lang="en-US" sz="800" dirty="0">
                <a:solidFill>
                  <a:srgbClr val="8A96A7"/>
                </a:solidFill>
                <a:latin typeface="Calibri" pitchFamily="34" charset="0"/>
                <a:ea typeface="Calibri" pitchFamily="34" charset="-122"/>
                <a:cs typeface="Calibri" pitchFamily="34" charset="-120"/>
              </a:rPr>
              <a:t>13 / 18</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2745"/>
        </a:solidFill>
      </p:bgPr>
    </p:bg>
    <p:spTree>
      <p:nvGrpSpPr>
        <p:cNvPr id="1" name=""/>
        <p:cNvGrpSpPr/>
        <p:nvPr/>
      </p:nvGrpSpPr>
      <p:grpSpPr>
        <a:xfrm>
          <a:off x="0" y="0"/>
          <a:ext cx="0" cy="0"/>
          <a:chOff x="0" y="0"/>
          <a:chExt cx="0" cy="0"/>
        </a:xfrm>
      </p:grpSpPr>
      <p:sp>
        <p:nvSpPr>
          <p:cNvPr id="2" name="Text 0"/>
          <p:cNvSpPr/>
          <p:nvPr/>
        </p:nvSpPr>
        <p:spPr>
          <a:xfrm>
            <a:off x="11247120" y="365760"/>
            <a:ext cx="640080" cy="365760"/>
          </a:xfrm>
          <a:prstGeom prst="rect">
            <a:avLst/>
          </a:prstGeom>
          <a:noFill/>
          <a:ln/>
        </p:spPr>
        <p:txBody>
          <a:bodyPr wrap="square" lIns="0" tIns="0" rIns="0" bIns="0" rtlCol="0" anchor="ctr"/>
          <a:lstStyle/>
          <a:p>
            <a:pPr algn="r" indent="0" marL="0">
              <a:buNone/>
            </a:pPr>
            <a:r>
              <a:rPr lang="en-US" sz="1400" b="1" dirty="0">
                <a:solidFill>
                  <a:srgbClr val="C49A2B"/>
                </a:solidFill>
                <a:latin typeface="Calibri" pitchFamily="34" charset="0"/>
                <a:ea typeface="Calibri" pitchFamily="34" charset="-122"/>
                <a:cs typeface="Calibri" pitchFamily="34" charset="-120"/>
              </a:rPr>
              <a:t>16</a:t>
            </a:r>
            <a:endParaRPr lang="en-US" sz="1400" dirty="0"/>
          </a:p>
        </p:txBody>
      </p:sp>
      <p:sp>
        <p:nvSpPr>
          <p:cNvPr id="3" name="Text 1"/>
          <p:cNvSpPr/>
          <p:nvPr/>
        </p:nvSpPr>
        <p:spPr>
          <a:xfrm>
            <a:off x="457200" y="685800"/>
            <a:ext cx="11247120" cy="731520"/>
          </a:xfrm>
          <a:prstGeom prst="rect">
            <a:avLst/>
          </a:prstGeom>
          <a:noFill/>
          <a:ln/>
        </p:spPr>
        <p:txBody>
          <a:bodyPr wrap="square" lIns="0" tIns="0" rIns="0" bIns="0" rtlCol="0" anchor="ctr"/>
          <a:lstStyle/>
          <a:p>
            <a:pPr rtl="1" algn="r" indent="0" marL="0">
              <a:buNone/>
            </a:pPr>
            <a:r>
              <a:rPr lang="en-US" sz="3600" b="1" dirty="0">
                <a:solidFill>
                  <a:srgbClr val="FFFFFF"/>
                </a:solidFill>
                <a:latin typeface="Tajawal" pitchFamily="34" charset="0"/>
                <a:ea typeface="Tajawal" pitchFamily="34" charset="-122"/>
                <a:cs typeface="Tajawal" pitchFamily="34" charset="-120"/>
              </a:rPr>
              <a:t>الدعوة</a:t>
            </a:r>
            <a:endParaRPr lang="en-US" sz="3600" dirty="0"/>
          </a:p>
        </p:txBody>
      </p:sp>
      <p:sp>
        <p:nvSpPr>
          <p:cNvPr id="4" name="Shape 2"/>
          <p:cNvSpPr/>
          <p:nvPr/>
        </p:nvSpPr>
        <p:spPr>
          <a:xfrm>
            <a:off x="10789920" y="1417320"/>
            <a:ext cx="914400" cy="45720"/>
          </a:xfrm>
          <a:prstGeom prst="rect">
            <a:avLst/>
          </a:prstGeom>
          <a:solidFill>
            <a:srgbClr val="C49A2B"/>
          </a:solidFill>
          <a:ln/>
        </p:spPr>
      </p:sp>
      <p:sp>
        <p:nvSpPr>
          <p:cNvPr id="5" name="Text 3"/>
          <p:cNvSpPr/>
          <p:nvPr/>
        </p:nvSpPr>
        <p:spPr>
          <a:xfrm>
            <a:off x="457200" y="2103120"/>
            <a:ext cx="11247120" cy="640080"/>
          </a:xfrm>
          <a:prstGeom prst="rect">
            <a:avLst/>
          </a:prstGeom>
          <a:noFill/>
          <a:ln/>
        </p:spPr>
        <p:txBody>
          <a:bodyPr wrap="square" lIns="0" tIns="0" rIns="0" bIns="0" rtlCol="0" anchor="ctr"/>
          <a:lstStyle/>
          <a:p>
            <a:pPr rtl="1" algn="r" indent="0" marL="0">
              <a:buNone/>
            </a:pPr>
            <a:r>
              <a:rPr lang="en-US" sz="2000" b="1" dirty="0">
                <a:solidFill>
                  <a:srgbClr val="31C9DA"/>
                </a:solidFill>
                <a:latin typeface="Tajawal" pitchFamily="34" charset="0"/>
                <a:ea typeface="Tajawal" pitchFamily="34" charset="-122"/>
                <a:cs typeface="Tajawal" pitchFamily="34" charset="-120"/>
              </a:rPr>
              <a:t>كل طلب يُرسَل بالعربية إلى نموذج لغوي عالمي اليوم يدفع ضريبةً خفيّة.</a:t>
            </a:r>
            <a:endParaRPr lang="en-US" sz="2000" dirty="0"/>
          </a:p>
        </p:txBody>
      </p:sp>
      <p:sp>
        <p:nvSpPr>
          <p:cNvPr id="6" name="Text 4"/>
          <p:cNvSpPr/>
          <p:nvPr/>
        </p:nvSpPr>
        <p:spPr>
          <a:xfrm>
            <a:off x="457200" y="3017520"/>
            <a:ext cx="11247120" cy="1280160"/>
          </a:xfrm>
          <a:prstGeom prst="rect">
            <a:avLst/>
          </a:prstGeom>
          <a:noFill/>
          <a:ln/>
        </p:spPr>
        <p:txBody>
          <a:bodyPr wrap="square" lIns="0" tIns="0" rIns="0" bIns="0" rtlCol="0" anchor="ctr"/>
          <a:lstStyle/>
          <a:p>
            <a:pPr rtl="1" algn="r" indent="0" marL="0">
              <a:lnSpc>
                <a:spcPts val="3000"/>
              </a:lnSpc>
              <a:buNone/>
            </a:pPr>
            <a:r>
              <a:rPr lang="en-US" sz="1500" dirty="0">
                <a:solidFill>
                  <a:srgbClr val="DDE3EA"/>
                </a:solidFill>
                <a:latin typeface="Tajawal" pitchFamily="34" charset="0"/>
                <a:ea typeface="Tajawal" pitchFamily="34" charset="-122"/>
                <a:cs typeface="Tajawal" pitchFamily="34" charset="-120"/>
              </a:rPr>
              <a:t>حين يتصاعد الذكاء الاصطناعي السيادي الإقليمي إلى مقياس متعدد الجيجاواتات ويتجاوز اقتصاد الذكاء الاصطناعي الخليجي 50 مليار $ سنوياً، تتحوّل هذه الضريبة إلى واحدة من أكبر هدر النمو في المنظومة العالمية للذكاء الاصطناعي.</a:t>
            </a:r>
            <a:endParaRPr lang="en-US" sz="1500" dirty="0"/>
          </a:p>
        </p:txBody>
      </p:sp>
      <p:sp>
        <p:nvSpPr>
          <p:cNvPr id="7" name="Shape 5"/>
          <p:cNvSpPr/>
          <p:nvPr/>
        </p:nvSpPr>
        <p:spPr>
          <a:xfrm>
            <a:off x="10058400" y="4480560"/>
            <a:ext cx="1645920" cy="36576"/>
          </a:xfrm>
          <a:prstGeom prst="rect">
            <a:avLst/>
          </a:prstGeom>
          <a:solidFill>
            <a:srgbClr val="C49A2B"/>
          </a:solidFill>
          <a:ln/>
        </p:spPr>
      </p:sp>
      <p:sp>
        <p:nvSpPr>
          <p:cNvPr id="8" name="Text 6"/>
          <p:cNvSpPr/>
          <p:nvPr/>
        </p:nvSpPr>
        <p:spPr>
          <a:xfrm>
            <a:off x="457200" y="4663440"/>
            <a:ext cx="11247120" cy="1371600"/>
          </a:xfrm>
          <a:prstGeom prst="rect">
            <a:avLst/>
          </a:prstGeom>
          <a:noFill/>
          <a:ln/>
        </p:spPr>
        <p:txBody>
          <a:bodyPr wrap="square" lIns="0" tIns="0" rIns="0" bIns="0" rtlCol="0" anchor="ctr"/>
          <a:lstStyle/>
          <a:p>
            <a:pPr algn="r" indent="0" marL="0">
              <a:lnSpc>
                <a:spcPts val="3600"/>
              </a:lnSpc>
              <a:buNone/>
            </a:pPr>
            <a:r>
              <a:rPr lang="en-US" sz="1800" b="1" dirty="0">
                <a:solidFill>
                  <a:srgbClr val="FFFFFF"/>
                </a:solidFill>
                <a:latin typeface="Tajawal" pitchFamily="34" charset="0"/>
                <a:ea typeface="Tajawal" pitchFamily="34" charset="-122"/>
                <a:cs typeface="Tajawal" pitchFamily="34" charset="-120"/>
              </a:rPr>
              <a:t>LCA هي البنية المُصمَّمة لإلغائها،
</a:t>
            </a:r>
            <a:pPr algn="r" indent="0" marL="0">
              <a:lnSpc>
                <a:spcPts val="3600"/>
              </a:lnSpc>
              <a:buNone/>
            </a:pPr>
            <a:r>
              <a:rPr lang="en-US" sz="1800" b="1" dirty="0">
                <a:solidFill>
                  <a:srgbClr val="FFFFFF"/>
                </a:solidFill>
                <a:latin typeface="Tajawal" pitchFamily="34" charset="0"/>
                <a:ea typeface="Tajawal" pitchFamily="34" charset="-122"/>
                <a:cs typeface="Tajawal" pitchFamily="34" charset="-120"/>
              </a:rPr>
              <a:t>محميةً بمطالبات IP تجعلها قابلةً للترخيص أو الاستحواذ،
</a:t>
            </a:r>
            <a:pPr algn="r" indent="0" marL="0">
              <a:lnSpc>
                <a:spcPts val="3600"/>
              </a:lnSpc>
              <a:buNone/>
            </a:pPr>
            <a:r>
              <a:rPr lang="en-US" sz="1800" b="1" dirty="0">
                <a:solidFill>
                  <a:srgbClr val="FFFFFF"/>
                </a:solidFill>
                <a:latin typeface="Tajawal" pitchFamily="34" charset="0"/>
                <a:ea typeface="Tajawal" pitchFamily="34" charset="-122"/>
                <a:cs typeface="Tajawal" pitchFamily="34" charset="-120"/>
              </a:rPr>
              <a:t>في الجغرافيا الأشدّ حافزاً لنشرها.</a:t>
            </a:r>
            <a:endParaRPr lang="en-US" sz="1800" dirty="0"/>
          </a:p>
        </p:txBody>
      </p:sp>
      <p:sp>
        <p:nvSpPr>
          <p:cNvPr id="9" name="Text 7"/>
          <p:cNvSpPr/>
          <p:nvPr/>
        </p:nvSpPr>
        <p:spPr>
          <a:xfrm>
            <a:off x="457200" y="6035040"/>
            <a:ext cx="11247120" cy="411480"/>
          </a:xfrm>
          <a:prstGeom prst="rect">
            <a:avLst/>
          </a:prstGeom>
          <a:noFill/>
          <a:ln/>
        </p:spPr>
        <p:txBody>
          <a:bodyPr wrap="square" lIns="0" tIns="0" rIns="0" bIns="0" rtlCol="0" anchor="ctr"/>
          <a:lstStyle/>
          <a:p>
            <a:pPr rtl="1" algn="r" indent="0" marL="0">
              <a:buNone/>
            </a:pPr>
            <a:r>
              <a:rPr lang="en-US" sz="2200" b="1" i="1" dirty="0">
                <a:solidFill>
                  <a:srgbClr val="C49A2B"/>
                </a:solidFill>
                <a:latin typeface="Tajawal" pitchFamily="34" charset="0"/>
                <a:ea typeface="Tajawal" pitchFamily="34" charset="-122"/>
                <a:cs typeface="Tajawal" pitchFamily="34" charset="-120"/>
              </a:rPr>
              <a:t>النافذة الآن.</a:t>
            </a:r>
            <a:endParaRPr lang="en-US" sz="2200" dirty="0"/>
          </a:p>
        </p:txBody>
      </p:sp>
      <p:sp>
        <p:nvSpPr>
          <p:cNvPr id="10" name="Text 8"/>
          <p:cNvSpPr/>
          <p:nvPr/>
        </p:nvSpPr>
        <p:spPr>
          <a:xfrm>
            <a:off x="365760" y="6492240"/>
            <a:ext cx="3657600" cy="274320"/>
          </a:xfrm>
          <a:prstGeom prst="rect">
            <a:avLst/>
          </a:prstGeom>
          <a:noFill/>
          <a:ln/>
        </p:spPr>
        <p:txBody>
          <a:bodyPr wrap="square" lIns="0" tIns="0" rIns="0" bIns="0" rtlCol="0" anchor="ctr"/>
          <a:lstStyle/>
          <a:p>
            <a:pPr rtl="1" algn="l" indent="0" marL="0">
              <a:buNone/>
            </a:pPr>
            <a:r>
              <a:rPr lang="en-US" sz="800" dirty="0">
                <a:solidFill>
                  <a:srgbClr val="8A96A7"/>
                </a:solidFill>
                <a:latin typeface="Tajawal" pitchFamily="34" charset="0"/>
                <a:ea typeface="Tajawal" pitchFamily="34" charset="-122"/>
                <a:cs typeface="Tajawal" pitchFamily="34" charset="-120"/>
              </a:rPr>
              <a:t>ARKANE AI · سرّي</a:t>
            </a:r>
            <a:endParaRPr lang="en-US" sz="800" dirty="0"/>
          </a:p>
        </p:txBody>
      </p:sp>
      <p:sp>
        <p:nvSpPr>
          <p:cNvPr id="11" name="Text 9"/>
          <p:cNvSpPr/>
          <p:nvPr/>
        </p:nvSpPr>
        <p:spPr>
          <a:xfrm>
            <a:off x="11430000" y="6492240"/>
            <a:ext cx="548640" cy="274320"/>
          </a:xfrm>
          <a:prstGeom prst="rect">
            <a:avLst/>
          </a:prstGeom>
          <a:noFill/>
          <a:ln/>
        </p:spPr>
        <p:txBody>
          <a:bodyPr wrap="square" lIns="0" tIns="0" rIns="0" bIns="0" rtlCol="0" anchor="ctr"/>
          <a:lstStyle/>
          <a:p>
            <a:pPr algn="r" indent="0" marL="0">
              <a:buNone/>
            </a:pPr>
            <a:r>
              <a:rPr lang="en-US" sz="800" dirty="0">
                <a:solidFill>
                  <a:srgbClr val="8A96A7"/>
                </a:solidFill>
                <a:latin typeface="Calibri" pitchFamily="34" charset="0"/>
                <a:ea typeface="Calibri" pitchFamily="34" charset="-122"/>
                <a:cs typeface="Calibri" pitchFamily="34" charset="-120"/>
              </a:rPr>
              <a:t>17 / 18</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2745"/>
        </a:solidFill>
      </p:bgPr>
    </p:bg>
    <p:spTree>
      <p:nvGrpSpPr>
        <p:cNvPr id="1" name=""/>
        <p:cNvGrpSpPr/>
        <p:nvPr/>
      </p:nvGrpSpPr>
      <p:grpSpPr>
        <a:xfrm>
          <a:off x="0" y="0"/>
          <a:ext cx="0" cy="0"/>
          <a:chOff x="0" y="0"/>
          <a:chExt cx="0" cy="0"/>
        </a:xfrm>
      </p:grpSpPr>
      <p:sp>
        <p:nvSpPr>
          <p:cNvPr id="2" name="Text 0"/>
          <p:cNvSpPr/>
          <p:nvPr/>
        </p:nvSpPr>
        <p:spPr>
          <a:xfrm>
            <a:off x="548640" y="548640"/>
            <a:ext cx="10972800" cy="365760"/>
          </a:xfrm>
          <a:prstGeom prst="rect">
            <a:avLst/>
          </a:prstGeom>
          <a:noFill/>
          <a:ln/>
        </p:spPr>
        <p:txBody>
          <a:bodyPr wrap="square" lIns="0" tIns="0" rIns="0" bIns="0" rtlCol="0" anchor="ctr"/>
          <a:lstStyle/>
          <a:p>
            <a:pPr algn="r" indent="0" marL="0">
              <a:buNone/>
            </a:pPr>
            <a:r>
              <a:rPr lang="en-US" sz="1100" b="1" spc="800" kern="0" dirty="0">
                <a:solidFill>
                  <a:srgbClr val="C49A2B"/>
                </a:solidFill>
                <a:latin typeface="Calibri" pitchFamily="34" charset="0"/>
                <a:ea typeface="Calibri" pitchFamily="34" charset="-122"/>
                <a:cs typeface="Calibri" pitchFamily="34" charset="-120"/>
              </a:rPr>
              <a:t>ARKANE AI</a:t>
            </a:r>
            <a:endParaRPr lang="en-US" sz="1100" dirty="0"/>
          </a:p>
        </p:txBody>
      </p:sp>
      <p:sp>
        <p:nvSpPr>
          <p:cNvPr id="3" name="Shape 1"/>
          <p:cNvSpPr/>
          <p:nvPr/>
        </p:nvSpPr>
        <p:spPr>
          <a:xfrm>
            <a:off x="502920" y="640080"/>
            <a:ext cx="109728" cy="109728"/>
          </a:xfrm>
          <a:prstGeom prst="ellipse">
            <a:avLst/>
          </a:prstGeom>
          <a:solidFill>
            <a:srgbClr val="C49A2B"/>
          </a:solidFill>
          <a:ln/>
        </p:spPr>
      </p:sp>
      <p:sp>
        <p:nvSpPr>
          <p:cNvPr id="4" name="Text 2"/>
          <p:cNvSpPr/>
          <p:nvPr/>
        </p:nvSpPr>
        <p:spPr>
          <a:xfrm>
            <a:off x="457200" y="2560320"/>
            <a:ext cx="11247120" cy="1371600"/>
          </a:xfrm>
          <a:prstGeom prst="rect">
            <a:avLst/>
          </a:prstGeom>
          <a:noFill/>
          <a:ln/>
        </p:spPr>
        <p:txBody>
          <a:bodyPr wrap="square" lIns="0" tIns="0" rIns="0" bIns="0" rtlCol="0" anchor="ctr"/>
          <a:lstStyle/>
          <a:p>
            <a:pPr rtl="1" algn="r" indent="0" marL="0">
              <a:buNone/>
            </a:pPr>
            <a:r>
              <a:rPr lang="en-US" sz="11000" b="1" dirty="0">
                <a:solidFill>
                  <a:srgbClr val="FFFFFF"/>
                </a:solidFill>
                <a:latin typeface="Tajawal" pitchFamily="34" charset="0"/>
                <a:ea typeface="Tajawal" pitchFamily="34" charset="-122"/>
                <a:cs typeface="Tajawal" pitchFamily="34" charset="-120"/>
              </a:rPr>
              <a:t>بنية السياق السائل</a:t>
            </a:r>
            <a:endParaRPr lang="en-US" sz="11000" dirty="0"/>
          </a:p>
        </p:txBody>
      </p:sp>
      <p:sp>
        <p:nvSpPr>
          <p:cNvPr id="5" name="Shape 3"/>
          <p:cNvSpPr/>
          <p:nvPr/>
        </p:nvSpPr>
        <p:spPr>
          <a:xfrm>
            <a:off x="10058400" y="4206240"/>
            <a:ext cx="1645920" cy="45720"/>
          </a:xfrm>
          <a:prstGeom prst="rect">
            <a:avLst/>
          </a:prstGeom>
          <a:solidFill>
            <a:srgbClr val="C49A2B"/>
          </a:solidFill>
          <a:ln/>
        </p:spPr>
      </p:sp>
      <p:sp>
        <p:nvSpPr>
          <p:cNvPr id="6" name="Text 4"/>
          <p:cNvSpPr/>
          <p:nvPr/>
        </p:nvSpPr>
        <p:spPr>
          <a:xfrm>
            <a:off x="457200" y="4572000"/>
            <a:ext cx="11247120" cy="548640"/>
          </a:xfrm>
          <a:prstGeom prst="rect">
            <a:avLst/>
          </a:prstGeom>
          <a:noFill/>
          <a:ln/>
        </p:spPr>
        <p:txBody>
          <a:bodyPr wrap="square" lIns="0" tIns="0" rIns="0" bIns="0" rtlCol="0" anchor="ctr"/>
          <a:lstStyle/>
          <a:p>
            <a:pPr rtl="1" algn="r" indent="0" marL="0">
              <a:buNone/>
            </a:pPr>
            <a:r>
              <a:rPr lang="en-US" sz="2800" b="1" dirty="0">
                <a:solidFill>
                  <a:srgbClr val="FFFFFF"/>
                </a:solidFill>
                <a:latin typeface="Tajawal" pitchFamily="34" charset="0"/>
                <a:ea typeface="Tajawal" pitchFamily="34" charset="-122"/>
                <a:cs typeface="Tajawal" pitchFamily="34" charset="-120"/>
              </a:rPr>
              <a:t>للاستفسار حول الترخيص أو الاستحواذ</a:t>
            </a:r>
            <a:endParaRPr lang="en-US" sz="2800" dirty="0"/>
          </a:p>
        </p:txBody>
      </p:sp>
      <p:sp>
        <p:nvSpPr>
          <p:cNvPr id="7" name="Text 5"/>
          <p:cNvSpPr/>
          <p:nvPr/>
        </p:nvSpPr>
        <p:spPr>
          <a:xfrm>
            <a:off x="457200" y="5120640"/>
            <a:ext cx="11247120" cy="365760"/>
          </a:xfrm>
          <a:prstGeom prst="rect">
            <a:avLst/>
          </a:prstGeom>
          <a:noFill/>
          <a:ln/>
        </p:spPr>
        <p:txBody>
          <a:bodyPr wrap="square" lIns="0" tIns="0" rIns="0" bIns="0" rtlCol="0" anchor="ctr"/>
          <a:lstStyle/>
          <a:p>
            <a:pPr rtl="1" algn="r" indent="0" marL="0">
              <a:buNone/>
            </a:pPr>
            <a:r>
              <a:rPr lang="en-US" sz="1400" dirty="0">
                <a:solidFill>
                  <a:srgbClr val="E8C66E"/>
                </a:solidFill>
                <a:latin typeface="Tajawal" pitchFamily="34" charset="0"/>
                <a:ea typeface="Tajawal" pitchFamily="34" charset="-122"/>
                <a:cs typeface="Tajawal" pitchFamily="34" charset="-120"/>
              </a:rPr>
              <a:t>ARKANE AI</a:t>
            </a:r>
            <a:endParaRPr lang="en-US" sz="1400" dirty="0"/>
          </a:p>
        </p:txBody>
      </p:sp>
      <p:sp>
        <p:nvSpPr>
          <p:cNvPr id="8" name="Text 6"/>
          <p:cNvSpPr/>
          <p:nvPr/>
        </p:nvSpPr>
        <p:spPr>
          <a:xfrm>
            <a:off x="457200" y="5760720"/>
            <a:ext cx="11247120" cy="365760"/>
          </a:xfrm>
          <a:prstGeom prst="rect">
            <a:avLst/>
          </a:prstGeom>
          <a:noFill/>
          <a:ln/>
        </p:spPr>
        <p:txBody>
          <a:bodyPr wrap="square" lIns="0" tIns="0" rIns="0" bIns="0" rtlCol="0" anchor="ctr"/>
          <a:lstStyle/>
          <a:p>
            <a:pPr algn="r" indent="0" marL="0">
              <a:buNone/>
            </a:pPr>
            <a:r>
              <a:rPr lang="en-US" sz="1400" dirty="0">
                <a:solidFill>
                  <a:srgbClr val="FFFFFF"/>
                </a:solidFill>
                <a:latin typeface="Calibri" pitchFamily="34" charset="0"/>
                <a:ea typeface="Calibri" pitchFamily="34" charset="-122"/>
                <a:cs typeface="Calibri" pitchFamily="34" charset="-120"/>
              </a:rPr>
              <a:t>+966 56 583 3185</a:t>
            </a:r>
            <a:endParaRPr lang="en-US" sz="1400" dirty="0"/>
          </a:p>
        </p:txBody>
      </p:sp>
      <p:sp>
        <p:nvSpPr>
          <p:cNvPr id="9" name="Text 7"/>
          <p:cNvSpPr/>
          <p:nvPr/>
        </p:nvSpPr>
        <p:spPr>
          <a:xfrm>
            <a:off x="457200" y="6126480"/>
            <a:ext cx="11247120" cy="365760"/>
          </a:xfrm>
          <a:prstGeom prst="rect">
            <a:avLst/>
          </a:prstGeom>
          <a:noFill/>
          <a:ln/>
        </p:spPr>
        <p:txBody>
          <a:bodyPr wrap="square" lIns="0" tIns="0" rIns="0" bIns="0" rtlCol="0" anchor="ctr"/>
          <a:lstStyle/>
          <a:p>
            <a:pPr rtl="1" algn="r" indent="0" marL="0">
              <a:buNone/>
            </a:pPr>
            <a:r>
              <a:rPr lang="en-US" sz="1200" dirty="0">
                <a:solidFill>
                  <a:srgbClr val="8A96A7"/>
                </a:solidFill>
                <a:latin typeface="Tajawal" pitchFamily="34" charset="0"/>
                <a:ea typeface="Tajawal" pitchFamily="34" charset="-122"/>
                <a:cs typeface="Tajawal" pitchFamily="34" charset="-120"/>
              </a:rPr>
              <a:t>أبها، المملكة العربية السعودية</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LCA Pitch Deck - Arabic</dc:title>
  <dc:subject>PptxGenJS Presentation</dc:subject>
  <dc:creator>ARKANE AI</dc:creator>
  <cp:lastModifiedBy>ARKANE AI</cp:lastModifiedBy>
  <cp:revision>1</cp:revision>
  <dcterms:created xsi:type="dcterms:W3CDTF">2026-05-13T14:41:08Z</dcterms:created>
  <dcterms:modified xsi:type="dcterms:W3CDTF">2026-05-13T14:41:08Z</dcterms:modified>
</cp:coreProperties>
</file>