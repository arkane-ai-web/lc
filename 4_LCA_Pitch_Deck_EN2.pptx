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4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4" Type="http://schemas.openxmlformats.org/officeDocument/2006/relationships/slide" Target="slides/slide13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HUMAIN License</c:v>
                </c:pt>
              </c:strCache>
            </c:strRef>
          </c:tx>
          <c:spPr>
            <a:solidFill>
              <a:srgbClr val="0B39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Yr 2</c:v>
                  </c:pt>
                  <c:pt idx="1">
                    <c:v>Yr 3</c:v>
                  </c:pt>
                  <c:pt idx="2">
                    <c:v>Yr 4</c:v>
                  </c:pt>
                  <c:pt idx="3">
                    <c:v>Yr 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600</c:v>
                </c:pt>
                <c:pt idx="1">
                  <c:v>2400</c:v>
                </c:pt>
                <c:pt idx="2">
                  <c:v>6000</c:v>
                </c:pt>
                <c:pt idx="3">
                  <c:v>11000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Saudi Gov / Aramco / SABIC</c:v>
                </c:pt>
              </c:strCache>
            </c:strRef>
          </c:tx>
          <c:spPr>
            <a:solidFill>
              <a:srgbClr val="087E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Yr 2</c:v>
                  </c:pt>
                  <c:pt idx="1">
                    <c:v>Yr 3</c:v>
                  </c:pt>
                  <c:pt idx="2">
                    <c:v>Yr 4</c:v>
                  </c:pt>
                  <c:pt idx="3">
                    <c:v>Yr 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900</c:v>
                </c:pt>
                <c:pt idx="1">
                  <c:v>2800</c:v>
                </c:pt>
                <c:pt idx="2">
                  <c:v>5400</c:v>
                </c:pt>
                <c:pt idx="3">
                  <c:v>8200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GCC Enterprises</c:v>
                </c:pt>
              </c:strCache>
            </c:strRef>
          </c:tx>
          <c:spPr>
            <a:solidFill>
              <a:srgbClr val="C49A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Yr 2</c:v>
                  </c:pt>
                  <c:pt idx="1">
                    <c:v>Yr 3</c:v>
                  </c:pt>
                  <c:pt idx="2">
                    <c:v>Yr 4</c:v>
                  </c:pt>
                  <c:pt idx="3">
                    <c:v>Yr 5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200</c:v>
                </c:pt>
                <c:pt idx="1">
                  <c:v>900</c:v>
                </c:pt>
                <c:pt idx="2">
                  <c:v>2200</c:v>
                </c:pt>
                <c:pt idx="3">
                  <c:v>4000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Cloud Marketplace</c:v>
                </c:pt>
              </c:strCache>
            </c:strRef>
          </c:tx>
          <c:spPr>
            <a:solidFill>
              <a:srgbClr val="5BA8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Yr 2</c:v>
                  </c:pt>
                  <c:pt idx="1">
                    <c:v>Yr 3</c:v>
                  </c:pt>
                  <c:pt idx="2">
                    <c:v>Yr 4</c:v>
                  </c:pt>
                  <c:pt idx="3">
                    <c:v>Yr 5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600</c:v>
                </c:pt>
                <c:pt idx="2">
                  <c:v>2800</c:v>
                </c:pt>
                <c:pt idx="3">
                  <c:v>6500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Global IP Licensing</c:v>
                </c:pt>
              </c:strCache>
            </c:strRef>
          </c:tx>
          <c:spPr>
            <a:solidFill>
              <a:srgbClr val="8B9F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Yr 2</c:v>
                  </c:pt>
                  <c:pt idx="1">
                    <c:v>Yr 3</c:v>
                  </c:pt>
                  <c:pt idx="2">
                    <c:v>Yr 4</c:v>
                  </c:pt>
                  <c:pt idx="3">
                    <c:v>Yr 5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5000</c:v>
                </c:pt>
                <c:pt idx="3">
                  <c:v>12000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1F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A8A91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7A8A91"/>
                    </a:solidFill>
                    <a:latin typeface="Arial"/>
                  </a:rPr>
                  <a:t>$K ARR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A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365760"/>
            <a:ext cx="274320" cy="274320"/>
          </a:xfrm>
          <a:prstGeom prst="ellipse">
            <a:avLst/>
          </a:prstGeom>
          <a:solidFill>
            <a:srgbClr val="C49A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4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ARKANE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-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LIQUID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-200" kern="0" dirty="0">
                <a:solidFill>
                  <a:srgbClr val="31C9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-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9600" dirty="0"/>
          </a:p>
        </p:txBody>
      </p:sp>
      <p:sp>
        <p:nvSpPr>
          <p:cNvPr id="7" name="Shape 5"/>
          <p:cNvSpPr/>
          <p:nvPr/>
        </p:nvSpPr>
        <p:spPr>
          <a:xfrm>
            <a:off x="457200" y="4434840"/>
            <a:ext cx="1371600" cy="45720"/>
          </a:xfrm>
          <a:prstGeom prst="rect">
            <a:avLst/>
          </a:prstGeom>
          <a:solidFill>
            <a:srgbClr val="C49A2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617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Arabic-Native Memory for Sovereign AI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ARKANE AI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58064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Abha, Kingdom of Saudi Arabia  · 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Pre-Patent Technical Disclosure  ·  For Review by Qualified Parties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4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7A8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every Arabic prompt cost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087E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to 4 times more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 the equivalent English prompt?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4846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A8A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what is the structural opportunity that creates?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5577840"/>
            <a:ext cx="548640" cy="36576"/>
          </a:xfrm>
          <a:prstGeom prst="rect">
            <a:avLst/>
          </a:prstGeom>
          <a:solidFill>
            <a:srgbClr val="C49A2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446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ARKANE AI · 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4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Hidden Tax on Arabic AI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57200" cy="36576"/>
          </a:xfrm>
          <a:prstGeom prst="rect">
            <a:avLst/>
          </a:prstGeom>
          <a:solidFill>
            <a:srgbClr val="C49A2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3657600" cy="365760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73152" cy="3657600"/>
          </a:xfrm>
          <a:prstGeom prst="rect">
            <a:avLst/>
          </a:prstGeom>
          <a:solidFill>
            <a:srgbClr val="087E8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0B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2.4×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Tokenization Fertility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needs 2.4-5.1 tokens per word vs 1.3 for English (Alakeel et al., 2026)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2011680"/>
            <a:ext cx="3657600" cy="365760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2011680"/>
            <a:ext cx="73152" cy="3657600"/>
          </a:xfrm>
          <a:prstGeom prst="rect">
            <a:avLst/>
          </a:prstGeom>
          <a:solidFill>
            <a:srgbClr val="C4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1945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C49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$25B</a:t>
            </a:r>
            <a:endParaRPr lang="en-US" sz="8400" dirty="0"/>
          </a:p>
        </p:txBody>
      </p:sp>
      <p:sp>
        <p:nvSpPr>
          <p:cNvPr id="13" name="Text 11"/>
          <p:cNvSpPr/>
          <p:nvPr/>
        </p:nvSpPr>
        <p:spPr>
          <a:xfrm>
            <a:off x="4709160" y="3657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Waste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09160" y="42519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lost on Arabic inefficiency at multi-GW regional sovereign AI scale through 2030 (conservative)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21040" y="2011680"/>
            <a:ext cx="3657600" cy="365760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5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011680"/>
            <a:ext cx="73152" cy="3657600"/>
          </a:xfrm>
          <a:prstGeom prst="rect">
            <a:avLst/>
          </a:prstGeom>
          <a:solidFill>
            <a:srgbClr val="087E8B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0" y="21945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0B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8400" dirty="0"/>
          </a:p>
        </p:txBody>
      </p:sp>
      <p:sp>
        <p:nvSpPr>
          <p:cNvPr id="18" name="Text 16"/>
          <p:cNvSpPr/>
          <p:nvPr/>
        </p:nvSpPr>
        <p:spPr>
          <a:xfrm>
            <a:off x="8595360" y="3657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Architectures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95360" y="42519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Arabic LLM is a transformer fine-tune. None redesigned for Arabic.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989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arXiv 2603.15773 · arXiv 2509.09199 · public strategic disclosures · ARKANE AI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6446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ARKANE AI · Confidential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4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Now: Three Converging Forces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57200" cy="36576"/>
          </a:xfrm>
          <a:prstGeom prst="rect">
            <a:avLst/>
          </a:prstGeom>
          <a:solidFill>
            <a:srgbClr val="C49A2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574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Saudi 2026 Year of AI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463040" y="24231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Decree designates 2026 as AI Year. Regional sovereign AI initiatives capitalized at $90–300B targeting multi-GW compute. Sovereign capital strategies for 2026–2030 redirect toward AI with multiple IPOs planned.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2900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3291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Maturity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463040" y="37947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Long-context compression (Infini-attention, DAST, LCIRC, ATACompressor) has matured. Building atop published methods is now feasible by focused 5-7 person team in 9-14 months.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800600"/>
            <a:ext cx="640080" cy="640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4663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Untaken Position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463040" y="51663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Arabic-native architectures exist. All major Arabic LLMs are transformer fine-tunes. The 18-36 month window before first-generation sovereign Arabic models lock in architecture is open.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9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window is unusually narrow and unusually clear.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65760" y="6446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ARKANE AI · Confidential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4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Liquid Context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57200" cy="36576"/>
          </a:xfrm>
          <a:prstGeom prst="rect">
            <a:avLst/>
          </a:prstGeom>
          <a:solidFill>
            <a:srgbClr val="C49A2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1C9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new memory architecture for transformer-class language models, designed from first principles around the structural properties of Arabic.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3749040" cy="3017520"/>
          </a:xfrm>
          <a:prstGeom prst="rect">
            <a:avLst/>
          </a:prstGeom>
          <a:solidFill>
            <a:srgbClr val="081E36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4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Hierarchical Query-Conditioned Compression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stored as a multi-resolution semantic manifold. Selective decompression based on the active query. Effectively unbounded context at bounded compute.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1688" y="3108960"/>
            <a:ext cx="3749040" cy="3017520"/>
          </a:xfrm>
          <a:prstGeom prst="rect">
            <a:avLst/>
          </a:prstGeom>
          <a:solidFill>
            <a:srgbClr val="081E36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4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36008" y="35661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Morphologically-Asymmetric Compression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36008" y="45262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Roots (jadhr), patterns (wazn), and particles receive different compression strategies aligned to their information density. Impossible in standard transformers.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66176" y="3108960"/>
            <a:ext cx="3749040" cy="3017520"/>
          </a:xfrm>
          <a:prstGeom prst="rect">
            <a:avLst/>
          </a:prstGeom>
          <a:solidFill>
            <a:srgbClr val="081E36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0496" y="3246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4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40496" y="35661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Geodesic Semantic Recall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40496" y="45262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Decompression follows shortest path in semantic space rather than scanning sequentially. Aligned with associative memory; bounded per-query compute.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6446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ARKANE AI · Confidential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4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Works: The Four Components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57200" cy="36576"/>
          </a:xfrm>
          <a:prstGeom prst="rect">
            <a:avLst/>
          </a:prstGeom>
          <a:solidFill>
            <a:srgbClr val="C49A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20240"/>
            <a:ext cx="10332720" cy="86868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116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Morphological Pre-Encoder (MPE)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3774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parallel embedding streams per token: root · pattern · surface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365760" cy="59436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8483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2971800"/>
            <a:ext cx="10332720" cy="868680"/>
          </a:xfrm>
          <a:prstGeom prst="rect">
            <a:avLst/>
          </a:prstGeom>
          <a:solidFill>
            <a:srgbClr val="087E8B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0632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Multi-Resolution Context Manifold (MRCM)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4290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0: full-resolution recent · Tier 1: compressed clusters · Tier 2: topological graph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65760" cy="594360"/>
          </a:xfrm>
          <a:prstGeom prst="rect">
            <a:avLst/>
          </a:prstGeom>
          <a:solidFill>
            <a:srgbClr val="087E8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3639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14400" y="4023360"/>
            <a:ext cx="10332720" cy="868680"/>
          </a:xfrm>
          <a:prstGeom prst="rect">
            <a:avLst/>
          </a:prstGeom>
          <a:solidFill>
            <a:srgbClr val="C4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1148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1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Geodesic Recall Operator (GRO)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44805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semantic path through topology · selective cluster expansion · bounded compute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365760" cy="594360"/>
          </a:xfrm>
          <a:prstGeom prst="rect">
            <a:avLst/>
          </a:prstGeom>
          <a:solidFill>
            <a:srgbClr val="C49A2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18795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14400" y="5074920"/>
            <a:ext cx="10332720" cy="868680"/>
          </a:xfrm>
          <a:prstGeom prst="rect">
            <a:avLst/>
          </a:prstGeom>
          <a:solidFill>
            <a:srgbClr val="081E36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51663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Compression Controller (ACC)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55321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Adversarially-trained policy network · per-token compression rate · morphologically stratified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5212080"/>
            <a:ext cx="365760" cy="594360"/>
          </a:xfrm>
          <a:prstGeom prst="rect">
            <a:avLst/>
          </a:prstGeom>
          <a:solidFill>
            <a:srgbClr val="081E3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523951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080760" y="2788920"/>
            <a:ext cx="0" cy="182880"/>
          </a:xfrm>
          <a:prstGeom prst="line">
            <a:avLst/>
          </a:prstGeom>
          <a:noFill/>
          <a:ln w="25400">
            <a:solidFill>
              <a:srgbClr val="7A8A9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080760" y="3840480"/>
            <a:ext cx="0" cy="182880"/>
          </a:xfrm>
          <a:prstGeom prst="line">
            <a:avLst/>
          </a:prstGeom>
          <a:noFill/>
          <a:ln w="25400">
            <a:solidFill>
              <a:srgbClr val="7A8A9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080760" y="4892040"/>
            <a:ext cx="0" cy="182880"/>
          </a:xfrm>
          <a:prstGeom prst="line">
            <a:avLst/>
          </a:prstGeom>
          <a:noFill/>
          <a:ln w="25400">
            <a:solidFill>
              <a:srgbClr val="7A8A91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independently novel. The combination is the architecture.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6446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ARKANE AI ·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4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Win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57200" cy="36576"/>
          </a:xfrm>
          <a:prstGeom prst="rect">
            <a:avLst/>
          </a:prstGeom>
          <a:solidFill>
            <a:srgbClr val="C49A2B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700784"/>
                <a:gridCol w="1700784"/>
                <a:gridCol w="1700784"/>
                <a:gridCol w="1700784"/>
                <a:gridCol w="1700784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ARABIC NATIVE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LONG CONTEXT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QUERY-CONDITIONED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SOVEREIGN DEPLOY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DEFENSIBLE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81E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LCA (ours)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81E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9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81E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9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81E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9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81E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93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81E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93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 / Claude / Gemini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937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87E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8A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937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A8A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Arabic LLMs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8A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937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937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87E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937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Infini-Attention / DAST / LCIRC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937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87E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87E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A8A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937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(Pinecone / vector DBs)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937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8A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87E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7A8A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A8A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LCA is the only architecture that combines all five properties — and the IP to defend it.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6446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ARKANE AI ·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4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Patent Stack: Four Filings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57200" cy="36576"/>
          </a:xfrm>
          <a:prstGeom prst="rect">
            <a:avLst/>
          </a:prstGeom>
          <a:solidFill>
            <a:srgbClr val="C49A2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5486400" cy="205740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" cy="2057400"/>
          </a:xfrm>
          <a:prstGeom prst="rect">
            <a:avLst/>
          </a:prstGeom>
          <a:solidFill>
            <a:srgbClr val="C49A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65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1965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08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NOVELTY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Tri-Stream Morphological Memory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788920"/>
            <a:ext cx="5166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independently-addressable embedding streams (root / pattern / surface) maintained throughout transformer stack. Closest prior art: factored language models — but no stream separation through attention.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5486400" cy="205740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828800"/>
            <a:ext cx="73152" cy="2057400"/>
          </a:xfrm>
          <a:prstGeom prst="rect">
            <a:avLst/>
          </a:prstGeom>
          <a:solidFill>
            <a:srgbClr val="C49A2B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965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784080" y="1965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08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NOVELTY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2240280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Geodesic Semantic Recall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5080" y="2788920"/>
            <a:ext cx="5166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Query-conditioned shortest-path retrieval over learned topological graph with compute budget constraint. Closest prior art: RAG, HippoRAG — but external. Our internal mechanism is novel.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5486400" cy="205740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5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023360"/>
            <a:ext cx="73152" cy="2057400"/>
          </a:xfrm>
          <a:prstGeom prst="rect">
            <a:avLst/>
          </a:prstGeom>
          <a:solidFill>
            <a:srgbClr val="087E8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0" y="41605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08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MEDIUM-STRONG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" y="4434840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Adversarial Compression Policy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4983480"/>
            <a:ext cx="5166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controller trained adversarially against reconstruction loss, with morphologically-stratified compression coefficients. Closest prior art: Activation Beacon — but not adversarial, not morphology-aware.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4023360"/>
            <a:ext cx="5486400" cy="205740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5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4023360"/>
            <a:ext cx="73152" cy="2057400"/>
          </a:xfrm>
          <a:prstGeom prst="rect">
            <a:avLst/>
          </a:prstGeom>
          <a:solidFill>
            <a:srgbClr val="087E8B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784080" y="41605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08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DEFENSIVE / NICHE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4434840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 Stream Isolation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4983480"/>
            <a:ext cx="5166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isolation of morphological streams enabling per-stream access control for sovereign deployment. Primary purpose: defensive moat for regional AI-governance regulatory frameworks.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in M2 · Full PCT M12 · National stage M30 in US/EPO/CN/GCC/JP/KR/IN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6446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ARKANE AI · Confidential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4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Market: Three Concentric Opportunities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57200" cy="36576"/>
          </a:xfrm>
          <a:prstGeom prst="rect">
            <a:avLst/>
          </a:prstGeom>
          <a:solidFill>
            <a:srgbClr val="C49A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4389120" cy="4389120"/>
          </a:xfrm>
          <a:prstGeom prst="ellipse">
            <a:avLst/>
          </a:prstGeom>
          <a:solidFill>
            <a:srgbClr val="F4F6F8"/>
          </a:solidFill>
          <a:ln w="12700">
            <a:solidFill>
              <a:srgbClr val="0B39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2743200"/>
            <a:ext cx="2926080" cy="2926080"/>
          </a:xfrm>
          <a:prstGeom prst="ellipse">
            <a:avLst/>
          </a:prstGeom>
          <a:solidFill>
            <a:srgbClr val="E0E8EE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3383280"/>
            <a:ext cx="1645920" cy="1645920"/>
          </a:xfrm>
          <a:prstGeom prst="ellipse">
            <a:avLst/>
          </a:prstGeom>
          <a:solidFill>
            <a:srgbClr val="C49A2B"/>
          </a:solidFill>
          <a:ln w="12700">
            <a:solidFill>
              <a:srgbClr val="C49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81E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4160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1E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$8M ARR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4526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81E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45920" y="2834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· $11.5B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103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· $192B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2103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B39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Foundation Model &amp; Inference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0" y="2743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$192B in 2025 · projected $960B by 2030 · 38% CAGR. Inference services alone $48B → $215B.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87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7E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MENA / Arabic AI Market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0" y="41605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$11.5B in 2025 → $58B by 2030. Regional sovereign AI deployments target multi-GW capacity = $18-60B annual services consumption.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4937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4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0" y="5212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Sovereign + Government + GCC Tier-1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43600" y="55778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deployment path: sovereign infrastructure first, regional Tier-1 enterprise second, broader GCC market expansion.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6446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ARKANE AI ·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4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 Opportunity for Deployment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57200" cy="36576"/>
          </a:xfrm>
          <a:prstGeom prst="rect">
            <a:avLst/>
          </a:prstGeom>
          <a:solidFill>
            <a:srgbClr val="C49A2B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457200" y="1828800"/>
          <a:ext cx="68580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68096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7A8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Year-5 Annual Value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680960" y="246888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49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$41.7M</a:t>
            </a:r>
            <a:endParaRPr lang="en-US" sz="9600" dirty="0"/>
          </a:p>
        </p:txBody>
      </p:sp>
      <p:sp>
        <p:nvSpPr>
          <p:cNvPr id="8" name="Text 5"/>
          <p:cNvSpPr/>
          <p:nvPr/>
        </p:nvSpPr>
        <p:spPr>
          <a:xfrm>
            <a:off x="768096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base case.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0" y="41605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scenario (LCA as primary regional sovereign architecture): $95M – $130M annual value.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80960" y="5029200"/>
            <a:ext cx="4114800" cy="36576"/>
          </a:xfrm>
          <a:prstGeom prst="rect">
            <a:avLst/>
          </a:prstGeom>
          <a:solidFill>
            <a:srgbClr val="C49A2B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0" y="52120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margins: 70-80% on licensing; 55-65% on managed service.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6446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ARKANE AI · Confidential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4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&amp; Mitigations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57200" cy="36576"/>
          </a:xfrm>
          <a:prstGeom prst="rect">
            <a:avLst/>
          </a:prstGeom>
          <a:solidFill>
            <a:srgbClr val="C49A2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5486400" cy="128016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" cy="1280160"/>
          </a:xfrm>
          <a:prstGeom prst="rect">
            <a:avLst/>
          </a:prstGeom>
          <a:solidFill>
            <a:srgbClr val="C49A2B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920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4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behavior unclear above 7B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scaling-law experiments · compute partnership with regional sovereign cloud · academic validation collaboration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5486400" cy="128016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1828800"/>
            <a:ext cx="73152" cy="1280160"/>
          </a:xfrm>
          <a:prstGeom prst="rect">
            <a:avLst/>
          </a:prstGeom>
          <a:solidFill>
            <a:srgbClr val="C49A2B"/>
          </a:solidFill>
          <a:ln/>
        </p:spPr>
      </p:sp>
      <p:sp>
        <p:nvSpPr>
          <p:cNvPr id="12" name="Text 10"/>
          <p:cNvSpPr/>
          <p:nvPr/>
        </p:nvSpPr>
        <p:spPr>
          <a:xfrm>
            <a:off x="10698480" y="1920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4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55080" y="19202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Morphological pre-encoder quality bottleneck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233172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segmentation module · curated training set from Quranic + Treebank gold standards · target 96-97% MSA accuracy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5486400" cy="128016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5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46120"/>
            <a:ext cx="73152" cy="1280160"/>
          </a:xfrm>
          <a:prstGeom prst="rect">
            <a:avLst/>
          </a:prstGeom>
          <a:solidFill>
            <a:srgbClr val="C9374B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3375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937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33375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sovereign builder bypasses LCA architecture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74904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as IP partner from day one · structure first conversations as licensing/equity · patent moat blocks workaround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3246120"/>
            <a:ext cx="5486400" cy="128016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5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3246120"/>
            <a:ext cx="73152" cy="1280160"/>
          </a:xfrm>
          <a:prstGeom prst="rect">
            <a:avLst/>
          </a:prstGeom>
          <a:solidFill>
            <a:srgbClr val="C49A2B"/>
          </a:solidFill>
          <a:ln/>
        </p:spPr>
      </p:sp>
      <p:sp>
        <p:nvSpPr>
          <p:cNvPr id="22" name="Text 20"/>
          <p:cNvSpPr/>
          <p:nvPr/>
        </p:nvSpPr>
        <p:spPr>
          <a:xfrm>
            <a:off x="10698480" y="33375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4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55080" y="33375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Frontier labs solve Arabic via data scaling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5080" y="374904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tax is structural — persists regardless of data volume · IP claims on architecture not data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5486400" cy="128016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5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663440"/>
            <a:ext cx="73152" cy="1280160"/>
          </a:xfrm>
          <a:prstGeom prst="rect">
            <a:avLst/>
          </a:prstGeom>
          <a:solidFill>
            <a:srgbClr val="C49A2B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4754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4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" y="4754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fiscal/geopolitical disruption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" y="516636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diversification (GCC primary, broader MENA secondary)  ·  global IP licensing path  ·  milestone-based revenue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4663440"/>
            <a:ext cx="5486400" cy="128016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5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4663440"/>
            <a:ext cx="73152" cy="1280160"/>
          </a:xfrm>
          <a:prstGeom prst="rect">
            <a:avLst/>
          </a:prstGeom>
          <a:solidFill>
            <a:srgbClr val="C49A2B"/>
          </a:solidFill>
          <a:ln/>
        </p:spPr>
      </p:sp>
      <p:sp>
        <p:nvSpPr>
          <p:cNvPr id="32" name="Text 30"/>
          <p:cNvSpPr/>
          <p:nvPr/>
        </p:nvSpPr>
        <p:spPr>
          <a:xfrm>
            <a:off x="10698480" y="4754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4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55080" y="4754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 concentration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55080" y="5166360"/>
            <a:ext cx="5166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technical documentation  ·  independent reproducibility verification  ·  full IP transferability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5760" y="6446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ARKANE AI ·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4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Invitation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57200" cy="36576"/>
          </a:xfrm>
          <a:prstGeom prst="rect">
            <a:avLst/>
          </a:prstGeom>
          <a:solidFill>
            <a:srgbClr val="C49A2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1945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1C9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Arabic prompt sent to a global LLM today pays a hidden tax.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regional sovereign AI ramps to multi-GW scale and the GCC AI economy crosses $50B annually, this tax becomes one of the largest pure inefficiencies in the global AI stack.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LCA is the architecture designed to eliminate it,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protected by IP claims that make it defensible at acquisition or license,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geography most motivated to deploy it.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9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window is now.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6446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ARKANE AI · Confidential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465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"/>
          </a:xfrm>
          <a:prstGeom prst="rect">
            <a:avLst/>
          </a:prstGeom>
          <a:solidFill>
            <a:srgbClr val="C49A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4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ARKANE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Liquid Context Architecture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0"/>
            <a:ext cx="1371600" cy="54864"/>
          </a:xfrm>
          <a:prstGeom prst="rect">
            <a:avLst/>
          </a:prstGeom>
          <a:solidFill>
            <a:srgbClr val="C49A2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389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1C9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Licensing &amp; Acquisition Inquiries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ARKANE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5349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+966 56 583 3185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669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Abha, Kingdom of Saudi Arabia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ARKANE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Liquid Context Architecture — Pitch Deck</dc:title>
  <dc:subject>PptxGenJS Presentation</dc:subject>
  <dc:creator>ARKANE AI · Faisal Asiri</dc:creator>
  <cp:lastModifiedBy>ARKANE AI · Faisal Asiri</cp:lastModifiedBy>
  <cp:revision>1</cp:revision>
  <dcterms:created xsi:type="dcterms:W3CDTF">2026-05-13T00:14:40Z</dcterms:created>
  <dcterms:modified xsi:type="dcterms:W3CDTF">2026-05-13T00:14:40Z</dcterms:modified>
</cp:coreProperties>
</file>